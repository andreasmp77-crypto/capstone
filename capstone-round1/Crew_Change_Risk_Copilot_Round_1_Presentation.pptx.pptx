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Open Sauce" charset="1" panose="00000500000000000000"/>
      <p:regular r:id="rId14"/>
    </p:embeddedFont>
    <p:embeddedFont>
      <p:font typeface="Open Sauce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this project, I explored the potential application of AI within crew change operations for a medium-sized ship management company.</a:t>
            </a:r>
          </a:p>
          <a:p>
            <a:r>
              <a:rPr lang="en-US"/>
              <a:t/>
            </a:r>
          </a:p>
          <a:p>
            <a:r>
              <a:rPr lang="en-US"/>
              <a:t>Crew changes are operationally complex because they involve several interconnected elements, including vessel schedules, crew availability, travel arrangements and external disruptions.</a:t>
            </a:r>
          </a:p>
          <a:p>
            <a:r>
              <a:rPr lang="en-US"/>
              <a:t/>
            </a:r>
          </a:p>
          <a:p>
            <a:r>
              <a:rPr lang="en-US"/>
              <a:t>Rather than starting with a technology, I looked at where AI could provide practical operational value.</a:t>
            </a:r>
          </a:p>
          <a:p>
            <a:r>
              <a:rPr lang="en-US"/>
              <a:t/>
            </a:r>
          </a:p>
          <a:p>
            <a:r>
              <a:rPr lang="en-US"/>
              <a:t>I explored three potential use cases. The first is a Crew Change Risk Copilot, which helps identify cases requiring additional attention. The second focuses on automated operational briefings and exception reporting. The third explores AI-assisted communication and document analysis.</a:t>
            </a:r>
          </a:p>
          <a:p>
            <a:r>
              <a:rPr lang="en-US"/>
              <a:t/>
            </a:r>
          </a:p>
          <a:p>
            <a:r>
              <a:rPr lang="en-US"/>
              <a:t>The strongest opportunity I identified is the Crew Change Risk Copilot. Importantly, the objective is not to replace operational judgement, but to help people focus their attention and understand potential risks.</a:t>
            </a:r>
          </a:p>
          <a:p>
            <a:r>
              <a:rPr lang="en-US"/>
              <a:t/>
            </a:r>
          </a:p>
          <a:p>
            <a:r>
              <a:rPr lang="en-US"/>
              <a:t>At the same time, there is an important concern from our hypothetical CEO, Chleo: what exactly is the AI doing, and can it be trusted? This question influenced how I designed the proof of concept and monitoring approach.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looking at a specific AI solution, I explored publicly available data that provides useful operational context.</a:t>
            </a:r>
          </a:p>
          <a:p>
            <a:r>
              <a:rPr lang="en-US"/>
              <a:t/>
            </a:r>
          </a:p>
          <a:p>
            <a:r>
              <a:rPr lang="en-US"/>
              <a:t>The first dashboard looks at airport delays. Crew changes often depend on flights and connections, so travel disruption is one external factor that can potentially affect planned crew movements. The purpose here is not to predict a specific crew-change failure, but to demonstrate the type of external operational context that could be monitored.</a:t>
            </a:r>
          </a:p>
          <a:p>
            <a:r>
              <a:rPr lang="en-US"/>
              <a:t/>
            </a:r>
          </a:p>
          <a:p>
            <a:r>
              <a:rPr lang="en-US"/>
              <a:t>The second dashboard looks at global seafarer supply. This provides a broader workforce perspective, showing differences in seafarer availability across economies and between officers and ratings.</a:t>
            </a:r>
          </a:p>
          <a:p>
            <a:r>
              <a:rPr lang="en-US"/>
              <a:t/>
            </a:r>
          </a:p>
          <a:p>
            <a:r>
              <a:rPr lang="en-US"/>
              <a:t>Together, these dashboards illustrate an important point: crew change operations do not exist in isolation. They depend on a combination of workforce, travel and operational information that may come from different sources.</a:t>
            </a:r>
          </a:p>
          <a:p>
            <a:r>
              <a:rPr lang="en-US"/>
              <a:t/>
            </a:r>
          </a:p>
          <a:p>
            <a:r>
              <a:rPr lang="en-US"/>
              <a:t>This creates the opportunity for the Crew Change Risk Copilot: instead of expecting operations teams to continuously monitor multiple information sources, AI could help identify relevant exceptions and bring them to human attention.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Based on the research and the operational context shown in the dashboards, my recommended use case is the Crew Change Risk Copilot.</a:t>
            </a:r>
          </a:p>
          <a:p>
            <a:r>
              <a:rPr lang="en-US"/>
              <a:t/>
            </a:r>
          </a:p>
          <a:p>
            <a:r>
              <a:rPr lang="en-US"/>
              <a:t>The concept is designed as an AI-supported decision-support tool. It would bring together relevant operational information, such as crew-change plans, travel information and external disruption context.</a:t>
            </a:r>
          </a:p>
          <a:p>
            <a:r>
              <a:rPr lang="en-US"/>
              <a:t/>
            </a:r>
          </a:p>
          <a:p>
            <a:r>
              <a:rPr lang="en-US"/>
              <a:t>Rather than requiring operations teams to manually monitor every piece of information, the system would help identify cases that may require additional attention.</a:t>
            </a:r>
          </a:p>
          <a:p>
            <a:r>
              <a:rPr lang="en-US"/>
              <a:t/>
            </a:r>
          </a:p>
          <a:p>
            <a:r>
              <a:rPr lang="en-US"/>
              <a:t>Importantly, the AI would not make operational decisions. Its role would be to identify, summarise and explain relevant risk factors.</a:t>
            </a:r>
          </a:p>
          <a:p>
            <a:r>
              <a:rPr lang="en-US"/>
              <a:t/>
            </a:r>
          </a:p>
          <a:p>
            <a:r>
              <a:rPr lang="en-US"/>
              <a:t>The final assessment and operational decision would always remain with the Crew Manager or Operations team.</a:t>
            </a:r>
          </a:p>
          <a:p>
            <a:r>
              <a:rPr lang="en-US"/>
              <a:t/>
            </a:r>
          </a:p>
          <a:p>
            <a:r>
              <a:rPr lang="en-US"/>
              <a:t>This creates a management-by-exception approach, where human attention is directed towards the cases that may need review.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test whether the proposed concept could work in practice, I built a simple proof of concept using n8n.</a:t>
            </a:r>
          </a:p>
          <a:p>
            <a:r>
              <a:rPr lang="en-US"/>
              <a:t/>
            </a:r>
          </a:p>
          <a:p>
            <a:r>
              <a:rPr lang="en-US"/>
              <a:t>The workflow takes crew change information and passes it through an AI analysis step.</a:t>
            </a:r>
          </a:p>
          <a:p>
            <a:r>
              <a:rPr lang="en-US"/>
              <a:t/>
            </a:r>
          </a:p>
          <a:p>
            <a:r>
              <a:rPr lang="en-US"/>
              <a:t>The AI then generates a structured Crew Change Risk Briefing, highlighting relevant operational factors that may require human attention.</a:t>
            </a:r>
          </a:p>
          <a:p>
            <a:r>
              <a:rPr lang="en-US"/>
              <a:t/>
            </a:r>
          </a:p>
          <a:p>
            <a:r>
              <a:rPr lang="en-US"/>
              <a:t>The purpose of this POC is not to prove predictive accuracy or create an autonomous risk engine. It demonstrates the workflow logic and how AI could support the process.</a:t>
            </a:r>
          </a:p>
          <a:p>
            <a:r>
              <a:rPr lang="en-US"/>
              <a:t/>
            </a:r>
          </a:p>
          <a:p>
            <a:r>
              <a:rPr lang="en-US"/>
              <a:t>However, Chleo's main concern was transparency. Producing an AI output is not enough—we also need to understand and monitor how the system behaves.</a:t>
            </a:r>
          </a:p>
          <a:p>
            <a:r>
              <a:rPr lang="en-US"/>
              <a:t/>
            </a:r>
          </a:p>
          <a:p>
            <a:r>
              <a:rPr lang="en-US"/>
              <a:t>For this reason, I also explored LangSmith as a monitoring and observability layer.</a:t>
            </a:r>
          </a:p>
          <a:p>
            <a:r>
              <a:rPr lang="en-US"/>
              <a:t/>
            </a:r>
          </a:p>
          <a:p>
            <a:r>
              <a:rPr lang="en-US"/>
              <a:t>This makes it possible to review system inputs and outputs and investigate unexpected behaviour.</a:t>
            </a:r>
          </a:p>
          <a:p>
            <a:r>
              <a:rPr lang="en-US"/>
              <a:t/>
            </a:r>
          </a:p>
          <a:p>
            <a:r>
              <a:rPr lang="en-US"/>
              <a:t>This is still a proof of concept using a simplified workflow and demonstration data. A production system would require integration with validated operational data sources, stronger evaluation and continuous monitoring.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Based on the initial scope, I developed an indicative cost and timeline estimate for a focused MVP and controlled pilot.</a:t>
            </a:r>
          </a:p>
          <a:p>
            <a:r>
              <a:rPr lang="en-US"/>
              <a:t/>
            </a:r>
          </a:p>
          <a:p>
            <a:r>
              <a:rPr lang="en-US"/>
              <a:t>The estimated client investment is approximately €31,000, based on a lean delivery model using a Lead AI and Maritime Consultant supported by specialist freelance resources.</a:t>
            </a:r>
          </a:p>
          <a:p>
            <a:r>
              <a:rPr lang="en-US"/>
              <a:t/>
            </a:r>
          </a:p>
          <a:p>
            <a:r>
              <a:rPr lang="en-US"/>
              <a:t>The proposed implementation would take approximately 12 weeks, starting with discovery and requirements definition, followed by solution design, MVP development, integration, testing and final pilot evaluation.</a:t>
            </a:r>
          </a:p>
          <a:p>
            <a:r>
              <a:rPr lang="en-US"/>
              <a:t/>
            </a:r>
          </a:p>
          <a:p>
            <a:r>
              <a:rPr lang="en-US"/>
              <a:t>These estimates are based on several assumptions, including the availability of prepared pilot data, limited enterprise integrations, a small group of operational users and mandatory human oversight.</a:t>
            </a:r>
          </a:p>
          <a:p>
            <a:r>
              <a:rPr lang="en-US"/>
              <a:t/>
            </a:r>
          </a:p>
          <a:p>
            <a:r>
              <a:rPr lang="en-US"/>
              <a:t>My recommendation would be not to move directly into full-scale deployment. Instead, the next step should be a controlled pilot to validate technical feasibility, operational value and user adoption before making a larger investment.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conclude, my recommendation is the Crew Change Risk Copilot: an AI-supported decision-support tool designed to help operations teams identify and understand potential crew-change disruptions earlier.</a:t>
            </a:r>
          </a:p>
          <a:p>
            <a:r>
              <a:rPr lang="en-US"/>
              <a:t/>
            </a:r>
          </a:p>
          <a:p>
            <a:r>
              <a:rPr lang="en-US"/>
              <a:t>The key principle is that AI supports human judgement rather than replacing it. The proof of concept demonstrates the workflow, while monitoring provides an initial approach to transparency and observability.</a:t>
            </a:r>
          </a:p>
          <a:p>
            <a:r>
              <a:rPr lang="en-US"/>
              <a:t/>
            </a:r>
          </a:p>
          <a:p>
            <a:r>
              <a:rPr lang="en-US"/>
              <a:t>What I would particularly value your feedback on is whether you believe this use case addresses a meaningful operational problem and provides a strong enough foundation to develop into a focused MVP.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grpSp>
        <p:nvGrpSpPr>
          <p:cNvPr name="Group 2" id="2"/>
          <p:cNvGrpSpPr/>
          <p:nvPr/>
        </p:nvGrpSpPr>
        <p:grpSpPr>
          <a:xfrm rot="0">
            <a:off x="-9535" y="-92192"/>
            <a:ext cx="18319461" cy="10395547"/>
            <a:chOff x="0" y="0"/>
            <a:chExt cx="24425948" cy="13860729"/>
          </a:xfrm>
        </p:grpSpPr>
        <p:sp>
          <p:nvSpPr>
            <p:cNvPr name="Freeform 3" id="3"/>
            <p:cNvSpPr/>
            <p:nvPr/>
          </p:nvSpPr>
          <p:spPr>
            <a:xfrm flipH="false" flipV="false" rot="0">
              <a:off x="0" y="0"/>
              <a:ext cx="24425911" cy="13860780"/>
            </a:xfrm>
            <a:custGeom>
              <a:avLst/>
              <a:gdLst/>
              <a:ahLst/>
              <a:cxnLst/>
              <a:rect r="r" b="b" t="t" l="l"/>
              <a:pathLst>
                <a:path h="13860780" w="24425911">
                  <a:moveTo>
                    <a:pt x="0" y="0"/>
                  </a:moveTo>
                  <a:lnTo>
                    <a:pt x="24425911" y="0"/>
                  </a:lnTo>
                  <a:lnTo>
                    <a:pt x="24425911" y="13860780"/>
                  </a:lnTo>
                  <a:lnTo>
                    <a:pt x="0" y="13860780"/>
                  </a:lnTo>
                  <a:close/>
                </a:path>
              </a:pathLst>
            </a:custGeom>
            <a:solidFill>
              <a:srgbClr val="FAF7F0"/>
            </a:solidFill>
            <a:ln w="19065" cap="sq">
              <a:solidFill>
                <a:srgbClr val="DCD6CA"/>
              </a:solidFill>
              <a:prstDash val="solid"/>
              <a:miter/>
            </a:ln>
          </p:spPr>
        </p:sp>
      </p:grpSp>
      <p:sp>
        <p:nvSpPr>
          <p:cNvPr name="AutoShape 4" id="4"/>
          <p:cNvSpPr/>
          <p:nvPr/>
        </p:nvSpPr>
        <p:spPr>
          <a:xfrm rot="-4647840">
            <a:off x="239811" y="412213"/>
            <a:ext cx="1273578" cy="0"/>
          </a:xfrm>
          <a:prstGeom prst="line">
            <a:avLst/>
          </a:prstGeom>
          <a:ln cap="rnd" w="142875">
            <a:solidFill>
              <a:srgbClr val="8C7753"/>
            </a:solidFill>
            <a:prstDash val="solid"/>
            <a:headEnd type="none" len="sm" w="sm"/>
            <a:tailEnd type="none" len="sm" w="sm"/>
          </a:ln>
        </p:spPr>
      </p:sp>
      <p:sp>
        <p:nvSpPr>
          <p:cNvPr name="AutoShape 5" id="5"/>
          <p:cNvSpPr/>
          <p:nvPr/>
        </p:nvSpPr>
        <p:spPr>
          <a:xfrm rot="-4767600">
            <a:off x="-146837" y="533476"/>
            <a:ext cx="1511227" cy="0"/>
          </a:xfrm>
          <a:prstGeom prst="line">
            <a:avLst/>
          </a:prstGeom>
          <a:ln cap="rnd" w="142875">
            <a:solidFill>
              <a:srgbClr val="8C7753"/>
            </a:solidFill>
            <a:prstDash val="solid"/>
            <a:headEnd type="none" len="sm" w="sm"/>
            <a:tailEnd type="none" len="sm" w="sm"/>
          </a:ln>
        </p:spPr>
      </p:sp>
      <p:sp>
        <p:nvSpPr>
          <p:cNvPr name="TextBox 6" id="6"/>
          <p:cNvSpPr txBox="true"/>
          <p:nvPr/>
        </p:nvSpPr>
        <p:spPr>
          <a:xfrm rot="0">
            <a:off x="1642443" y="8113062"/>
            <a:ext cx="15075570" cy="971550"/>
          </a:xfrm>
          <a:prstGeom prst="rect">
            <a:avLst/>
          </a:prstGeom>
        </p:spPr>
        <p:txBody>
          <a:bodyPr anchor="t" rtlCol="false" tIns="0" lIns="0" bIns="0" rIns="0">
            <a:spAutoFit/>
          </a:bodyPr>
          <a:lstStyle/>
          <a:p>
            <a:pPr algn="l">
              <a:lnSpc>
                <a:spcPts val="3891"/>
              </a:lnSpc>
            </a:pPr>
            <a:r>
              <a:rPr lang="en-US" sz="3242">
                <a:solidFill>
                  <a:srgbClr val="331B0D"/>
                </a:solidFill>
                <a:latin typeface="Open Sauce"/>
                <a:ea typeface="Open Sauce"/>
                <a:cs typeface="Open Sauce"/>
                <a:sym typeface="Open Sauce"/>
              </a:rPr>
              <a:t>Capstone Poject - IronHack - AI Consilting and Intergration - 2026-09-01</a:t>
            </a:r>
          </a:p>
          <a:p>
            <a:pPr algn="l">
              <a:lnSpc>
                <a:spcPts val="3891"/>
              </a:lnSpc>
            </a:pPr>
            <a:r>
              <a:rPr lang="en-US" sz="3242">
                <a:solidFill>
                  <a:srgbClr val="331B0D"/>
                </a:solidFill>
                <a:latin typeface="Open Sauce"/>
                <a:ea typeface="Open Sauce"/>
                <a:cs typeface="Open Sauce"/>
                <a:sym typeface="Open Sauce"/>
              </a:rPr>
              <a:t>Andreas Papachristophorou</a:t>
            </a:r>
          </a:p>
        </p:txBody>
      </p:sp>
      <p:grpSp>
        <p:nvGrpSpPr>
          <p:cNvPr name="Group 7" id="7"/>
          <p:cNvGrpSpPr/>
          <p:nvPr/>
        </p:nvGrpSpPr>
        <p:grpSpPr>
          <a:xfrm rot="0">
            <a:off x="9043435" y="798824"/>
            <a:ext cx="7674569" cy="2855919"/>
            <a:chOff x="0" y="0"/>
            <a:chExt cx="10232758" cy="3807892"/>
          </a:xfrm>
        </p:grpSpPr>
        <p:sp>
          <p:nvSpPr>
            <p:cNvPr name="Freeform 8" id="8"/>
            <p:cNvSpPr/>
            <p:nvPr/>
          </p:nvSpPr>
          <p:spPr>
            <a:xfrm flipH="false" flipV="false" rot="0">
              <a:off x="0" y="0"/>
              <a:ext cx="10232771" cy="3807841"/>
            </a:xfrm>
            <a:custGeom>
              <a:avLst/>
              <a:gdLst/>
              <a:ahLst/>
              <a:cxnLst/>
              <a:rect r="r" b="b" t="t" l="l"/>
              <a:pathLst>
                <a:path h="3807841" w="10232771">
                  <a:moveTo>
                    <a:pt x="0" y="0"/>
                  </a:moveTo>
                  <a:lnTo>
                    <a:pt x="10232771" y="0"/>
                  </a:lnTo>
                  <a:lnTo>
                    <a:pt x="10232771" y="3807841"/>
                  </a:lnTo>
                  <a:lnTo>
                    <a:pt x="0" y="3807841"/>
                  </a:lnTo>
                  <a:lnTo>
                    <a:pt x="0" y="0"/>
                  </a:lnTo>
                  <a:close/>
                </a:path>
              </a:pathLst>
            </a:custGeom>
            <a:blipFill>
              <a:blip r:embed="rId2"/>
              <a:stretch>
                <a:fillRect l="-6" t="0" r="-6" b="-1"/>
              </a:stretch>
            </a:blipFill>
          </p:spPr>
        </p:sp>
      </p:grpSp>
      <p:grpSp>
        <p:nvGrpSpPr>
          <p:cNvPr name="Group 9" id="9"/>
          <p:cNvGrpSpPr/>
          <p:nvPr/>
        </p:nvGrpSpPr>
        <p:grpSpPr>
          <a:xfrm rot="0">
            <a:off x="1641977" y="5202422"/>
            <a:ext cx="15075675" cy="2701970"/>
            <a:chOff x="0" y="0"/>
            <a:chExt cx="20100900" cy="3602627"/>
          </a:xfrm>
        </p:grpSpPr>
        <p:sp>
          <p:nvSpPr>
            <p:cNvPr name="Freeform 10" id="10"/>
            <p:cNvSpPr/>
            <p:nvPr/>
          </p:nvSpPr>
          <p:spPr>
            <a:xfrm flipH="false" flipV="false" rot="0">
              <a:off x="0" y="0"/>
              <a:ext cx="20100902" cy="3602632"/>
            </a:xfrm>
            <a:custGeom>
              <a:avLst/>
              <a:gdLst/>
              <a:ahLst/>
              <a:cxnLst/>
              <a:rect r="r" b="b" t="t" l="l"/>
              <a:pathLst>
                <a:path h="3602632" w="20100902">
                  <a:moveTo>
                    <a:pt x="0" y="0"/>
                  </a:moveTo>
                  <a:lnTo>
                    <a:pt x="20100902" y="0"/>
                  </a:lnTo>
                  <a:lnTo>
                    <a:pt x="20100902" y="3602632"/>
                  </a:lnTo>
                  <a:lnTo>
                    <a:pt x="0" y="3602632"/>
                  </a:lnTo>
                  <a:close/>
                </a:path>
              </a:pathLst>
            </a:custGeom>
            <a:blipFill>
              <a:blip r:embed="rId3">
                <a:alphaModFix amt="0"/>
              </a:blip>
              <a:stretch>
                <a:fillRect l="0" t="-58716" r="0" b="-58716"/>
              </a:stretch>
            </a:blipFill>
          </p:spPr>
        </p:sp>
        <p:sp>
          <p:nvSpPr>
            <p:cNvPr name="TextBox 11" id="11"/>
            <p:cNvSpPr txBox="true"/>
            <p:nvPr/>
          </p:nvSpPr>
          <p:spPr>
            <a:xfrm>
              <a:off x="0" y="104775"/>
              <a:ext cx="20100900" cy="3497852"/>
            </a:xfrm>
            <a:prstGeom prst="rect">
              <a:avLst/>
            </a:prstGeom>
          </p:spPr>
          <p:txBody>
            <a:bodyPr anchor="b" rtlCol="false" tIns="0" lIns="0" bIns="0" rIns="0"/>
            <a:lstStyle/>
            <a:p>
              <a:pPr algn="l">
                <a:lnSpc>
                  <a:spcPts val="8754"/>
                </a:lnSpc>
              </a:pPr>
              <a:r>
                <a:rPr lang="en-US" sz="8106" spc="-486">
                  <a:solidFill>
                    <a:srgbClr val="331B0D"/>
                  </a:solidFill>
                  <a:latin typeface="Open Sauce"/>
                  <a:ea typeface="Open Sauce"/>
                  <a:cs typeface="Open Sauce"/>
                  <a:sym typeface="Open Sauce"/>
                </a:rPr>
                <a:t>AI for Smarter Crew Change Operations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grpSp>
        <p:nvGrpSpPr>
          <p:cNvPr name="Group 2" id="2"/>
          <p:cNvGrpSpPr/>
          <p:nvPr/>
        </p:nvGrpSpPr>
        <p:grpSpPr>
          <a:xfrm rot="0">
            <a:off x="-9535" y="-92192"/>
            <a:ext cx="18319461" cy="10395547"/>
            <a:chOff x="0" y="0"/>
            <a:chExt cx="24425948" cy="13860729"/>
          </a:xfrm>
        </p:grpSpPr>
        <p:sp>
          <p:nvSpPr>
            <p:cNvPr name="Freeform 3" id="3"/>
            <p:cNvSpPr/>
            <p:nvPr/>
          </p:nvSpPr>
          <p:spPr>
            <a:xfrm flipH="false" flipV="false" rot="0">
              <a:off x="0" y="0"/>
              <a:ext cx="24425911" cy="13860780"/>
            </a:xfrm>
            <a:custGeom>
              <a:avLst/>
              <a:gdLst/>
              <a:ahLst/>
              <a:cxnLst/>
              <a:rect r="r" b="b" t="t" l="l"/>
              <a:pathLst>
                <a:path h="13860780" w="24425911">
                  <a:moveTo>
                    <a:pt x="0" y="0"/>
                  </a:moveTo>
                  <a:lnTo>
                    <a:pt x="24425911" y="0"/>
                  </a:lnTo>
                  <a:lnTo>
                    <a:pt x="24425911" y="13860780"/>
                  </a:lnTo>
                  <a:lnTo>
                    <a:pt x="0" y="13860780"/>
                  </a:lnTo>
                  <a:close/>
                </a:path>
              </a:pathLst>
            </a:custGeom>
            <a:solidFill>
              <a:srgbClr val="FAF7F0"/>
            </a:solidFill>
            <a:ln w="19065" cap="sq">
              <a:solidFill>
                <a:srgbClr val="DCD6CA"/>
              </a:solidFill>
              <a:prstDash val="solid"/>
              <a:miter/>
            </a:ln>
          </p:spPr>
        </p:sp>
      </p:grpSp>
      <p:sp>
        <p:nvSpPr>
          <p:cNvPr name="AutoShape 4" id="4"/>
          <p:cNvSpPr/>
          <p:nvPr/>
        </p:nvSpPr>
        <p:spPr>
          <a:xfrm rot="-4647840">
            <a:off x="239811" y="412213"/>
            <a:ext cx="1273578" cy="0"/>
          </a:xfrm>
          <a:prstGeom prst="line">
            <a:avLst/>
          </a:prstGeom>
          <a:ln cap="rnd" w="142875">
            <a:solidFill>
              <a:srgbClr val="8C7753"/>
            </a:solidFill>
            <a:prstDash val="solid"/>
            <a:headEnd type="none" len="sm" w="sm"/>
            <a:tailEnd type="none" len="sm" w="sm"/>
          </a:ln>
        </p:spPr>
      </p:sp>
      <p:sp>
        <p:nvSpPr>
          <p:cNvPr name="AutoShape 5" id="5"/>
          <p:cNvSpPr/>
          <p:nvPr/>
        </p:nvSpPr>
        <p:spPr>
          <a:xfrm rot="-4767600">
            <a:off x="-146837" y="533476"/>
            <a:ext cx="1511227" cy="0"/>
          </a:xfrm>
          <a:prstGeom prst="line">
            <a:avLst/>
          </a:prstGeom>
          <a:ln cap="rnd" w="142875">
            <a:solidFill>
              <a:srgbClr val="8C7753"/>
            </a:solidFill>
            <a:prstDash val="solid"/>
            <a:headEnd type="none" len="sm" w="sm"/>
            <a:tailEnd type="none" len="sm" w="sm"/>
          </a:ln>
        </p:spPr>
      </p:sp>
      <p:sp>
        <p:nvSpPr>
          <p:cNvPr name="TextBox 6" id="6"/>
          <p:cNvSpPr txBox="true"/>
          <p:nvPr/>
        </p:nvSpPr>
        <p:spPr>
          <a:xfrm rot="0">
            <a:off x="887587" y="1185034"/>
            <a:ext cx="8822426" cy="295275"/>
          </a:xfrm>
          <a:prstGeom prst="rect">
            <a:avLst/>
          </a:prstGeom>
        </p:spPr>
        <p:txBody>
          <a:bodyPr anchor="t" rtlCol="false" tIns="0" lIns="0" bIns="0" rIns="0">
            <a:spAutoFit/>
          </a:bodyPr>
          <a:lstStyle/>
          <a:p>
            <a:pPr algn="l">
              <a:lnSpc>
                <a:spcPts val="2332"/>
              </a:lnSpc>
            </a:pPr>
            <a:r>
              <a:rPr lang="en-US" sz="1944">
                <a:solidFill>
                  <a:srgbClr val="8C7753"/>
                </a:solidFill>
                <a:latin typeface="Open Sauce"/>
                <a:ea typeface="Open Sauce"/>
                <a:cs typeface="Open Sauce"/>
                <a:sym typeface="Open Sauce"/>
              </a:rPr>
              <a:t>Exploring AI opportunities for a medium-sized ship management company</a:t>
            </a:r>
          </a:p>
        </p:txBody>
      </p:sp>
      <p:grpSp>
        <p:nvGrpSpPr>
          <p:cNvPr name="Group 7" id="7"/>
          <p:cNvGrpSpPr/>
          <p:nvPr/>
        </p:nvGrpSpPr>
        <p:grpSpPr>
          <a:xfrm rot="0">
            <a:off x="951338" y="2552786"/>
            <a:ext cx="5303853" cy="5097951"/>
            <a:chOff x="0" y="0"/>
            <a:chExt cx="7071804" cy="6797269"/>
          </a:xfrm>
        </p:grpSpPr>
        <p:sp>
          <p:nvSpPr>
            <p:cNvPr name="Freeform 8" id="8"/>
            <p:cNvSpPr/>
            <p:nvPr/>
          </p:nvSpPr>
          <p:spPr>
            <a:xfrm flipH="false" flipV="false" rot="0">
              <a:off x="0" y="0"/>
              <a:ext cx="7071741" cy="6797167"/>
            </a:xfrm>
            <a:custGeom>
              <a:avLst/>
              <a:gdLst/>
              <a:ahLst/>
              <a:cxnLst/>
              <a:rect r="r" b="b" t="t" l="l"/>
              <a:pathLst>
                <a:path h="6797167" w="7071741">
                  <a:moveTo>
                    <a:pt x="0" y="1132840"/>
                  </a:moveTo>
                  <a:cubicBezTo>
                    <a:pt x="0" y="507238"/>
                    <a:pt x="507238" y="0"/>
                    <a:pt x="1132840" y="0"/>
                  </a:cubicBezTo>
                  <a:lnTo>
                    <a:pt x="5938901" y="0"/>
                  </a:lnTo>
                  <a:cubicBezTo>
                    <a:pt x="6564630" y="0"/>
                    <a:pt x="7071741" y="507238"/>
                    <a:pt x="7071741" y="1132840"/>
                  </a:cubicBezTo>
                  <a:lnTo>
                    <a:pt x="7071741" y="5664327"/>
                  </a:lnTo>
                  <a:cubicBezTo>
                    <a:pt x="7071741" y="6290056"/>
                    <a:pt x="6564503" y="6797167"/>
                    <a:pt x="5938901" y="6797167"/>
                  </a:cubicBezTo>
                  <a:lnTo>
                    <a:pt x="1132840" y="6797167"/>
                  </a:lnTo>
                  <a:cubicBezTo>
                    <a:pt x="507111" y="6797167"/>
                    <a:pt x="0" y="6289929"/>
                    <a:pt x="0" y="5664327"/>
                  </a:cubicBezTo>
                  <a:close/>
                </a:path>
              </a:pathLst>
            </a:custGeom>
            <a:solidFill>
              <a:srgbClr val="8C7753"/>
            </a:solidFill>
            <a:ln w="19065" cap="sq">
              <a:solidFill>
                <a:srgbClr val="D2DAE2"/>
              </a:solidFill>
              <a:prstDash val="solid"/>
              <a:miter/>
            </a:ln>
          </p:spPr>
        </p:sp>
      </p:grpSp>
      <p:sp>
        <p:nvSpPr>
          <p:cNvPr name="TextBox 9" id="9"/>
          <p:cNvSpPr txBox="true"/>
          <p:nvPr/>
        </p:nvSpPr>
        <p:spPr>
          <a:xfrm rot="0">
            <a:off x="2206364" y="2795273"/>
            <a:ext cx="2793802" cy="457200"/>
          </a:xfrm>
          <a:prstGeom prst="rect">
            <a:avLst/>
          </a:prstGeom>
        </p:spPr>
        <p:txBody>
          <a:bodyPr anchor="t" rtlCol="false" tIns="0" lIns="0" bIns="0" rIns="0">
            <a:spAutoFit/>
          </a:bodyPr>
          <a:lstStyle/>
          <a:p>
            <a:pPr algn="ctr">
              <a:lnSpc>
                <a:spcPts val="3535"/>
              </a:lnSpc>
            </a:pPr>
            <a:r>
              <a:rPr lang="en-US" sz="2946" spc="-176">
                <a:solidFill>
                  <a:srgbClr val="FFFFFF"/>
                </a:solidFill>
                <a:latin typeface="Open Sauce"/>
                <a:ea typeface="Open Sauce"/>
                <a:cs typeface="Open Sauce"/>
                <a:sym typeface="Open Sauce"/>
              </a:rPr>
              <a:t>THE CHALLENGE</a:t>
            </a:r>
          </a:p>
        </p:txBody>
      </p:sp>
      <p:sp>
        <p:nvSpPr>
          <p:cNvPr name="TextBox 10" id="10"/>
          <p:cNvSpPr txBox="true"/>
          <p:nvPr/>
        </p:nvSpPr>
        <p:spPr>
          <a:xfrm rot="0">
            <a:off x="1294257" y="3889591"/>
            <a:ext cx="4644704" cy="3048000"/>
          </a:xfrm>
          <a:prstGeom prst="rect">
            <a:avLst/>
          </a:prstGeom>
        </p:spPr>
        <p:txBody>
          <a:bodyPr anchor="t" rtlCol="false" tIns="0" lIns="0" bIns="0" rIns="0">
            <a:spAutoFit/>
          </a:bodyPr>
          <a:lstStyle/>
          <a:p>
            <a:pPr algn="l">
              <a:lnSpc>
                <a:spcPts val="3019"/>
              </a:lnSpc>
            </a:pPr>
            <a:r>
              <a:rPr lang="en-US" b="true" sz="2516">
                <a:solidFill>
                  <a:srgbClr val="FFFFFF"/>
                </a:solidFill>
                <a:latin typeface="Open Sauce Bold"/>
                <a:ea typeface="Open Sauce Bold"/>
                <a:cs typeface="Open Sauce Bold"/>
                <a:sym typeface="Open Sauce Bold"/>
              </a:rPr>
              <a:t>⚓ Vessel schedules</a:t>
            </a:r>
          </a:p>
          <a:p>
            <a:pPr algn="l">
              <a:lnSpc>
                <a:spcPts val="3019"/>
              </a:lnSpc>
            </a:pPr>
          </a:p>
          <a:p>
            <a:pPr algn="l">
              <a:lnSpc>
                <a:spcPts val="3019"/>
              </a:lnSpc>
            </a:pPr>
            <a:r>
              <a:rPr lang="en-US" b="true" sz="2516">
                <a:solidFill>
                  <a:srgbClr val="FFFFFF"/>
                </a:solidFill>
                <a:latin typeface="Open Sauce Bold"/>
                <a:ea typeface="Open Sauce Bold"/>
                <a:cs typeface="Open Sauce Bold"/>
                <a:sym typeface="Open Sauce Bold"/>
              </a:rPr>
              <a:t>👥  Crew availability</a:t>
            </a:r>
          </a:p>
          <a:p>
            <a:pPr algn="l">
              <a:lnSpc>
                <a:spcPts val="3019"/>
              </a:lnSpc>
            </a:pPr>
          </a:p>
          <a:p>
            <a:pPr algn="l">
              <a:lnSpc>
                <a:spcPts val="3019"/>
              </a:lnSpc>
            </a:pPr>
            <a:r>
              <a:rPr lang="en-US" b="true" sz="2516">
                <a:solidFill>
                  <a:srgbClr val="FFFFFF"/>
                </a:solidFill>
                <a:latin typeface="Open Sauce Bold"/>
                <a:ea typeface="Open Sauce Bold"/>
                <a:cs typeface="Open Sauce Bold"/>
                <a:sym typeface="Open Sauce Bold"/>
              </a:rPr>
              <a:t>✈ Travel &amp; airport disruption</a:t>
            </a:r>
          </a:p>
          <a:p>
            <a:pPr algn="l">
              <a:lnSpc>
                <a:spcPts val="3019"/>
              </a:lnSpc>
            </a:pPr>
          </a:p>
          <a:p>
            <a:pPr algn="l">
              <a:lnSpc>
                <a:spcPts val="3019"/>
              </a:lnSpc>
            </a:pPr>
            <a:r>
              <a:rPr lang="en-US" b="true" sz="2516">
                <a:solidFill>
                  <a:srgbClr val="FFFFFF"/>
                </a:solidFill>
                <a:latin typeface="Open Sauce Bold"/>
                <a:ea typeface="Open Sauce Bold"/>
                <a:cs typeface="Open Sauce Bold"/>
                <a:sym typeface="Open Sauce Bold"/>
              </a:rPr>
              <a:t>🌍  Port &amp; operational constraints</a:t>
            </a:r>
          </a:p>
        </p:txBody>
      </p:sp>
      <p:grpSp>
        <p:nvGrpSpPr>
          <p:cNvPr name="Group 11" id="11"/>
          <p:cNvGrpSpPr/>
          <p:nvPr/>
        </p:nvGrpSpPr>
        <p:grpSpPr>
          <a:xfrm rot="0">
            <a:off x="6542313" y="2543261"/>
            <a:ext cx="5185648" cy="5117020"/>
            <a:chOff x="0" y="0"/>
            <a:chExt cx="6914197" cy="6822694"/>
          </a:xfrm>
        </p:grpSpPr>
        <p:sp>
          <p:nvSpPr>
            <p:cNvPr name="Freeform 12" id="12"/>
            <p:cNvSpPr/>
            <p:nvPr/>
          </p:nvSpPr>
          <p:spPr>
            <a:xfrm flipH="false" flipV="false" rot="0">
              <a:off x="0" y="0"/>
              <a:ext cx="6914261" cy="6822694"/>
            </a:xfrm>
            <a:custGeom>
              <a:avLst/>
              <a:gdLst/>
              <a:ahLst/>
              <a:cxnLst/>
              <a:rect r="r" b="b" t="t" l="l"/>
              <a:pathLst>
                <a:path h="6822694" w="6914261">
                  <a:moveTo>
                    <a:pt x="0" y="1137158"/>
                  </a:moveTo>
                  <a:cubicBezTo>
                    <a:pt x="0" y="509143"/>
                    <a:pt x="509143" y="0"/>
                    <a:pt x="1137158" y="0"/>
                  </a:cubicBezTo>
                  <a:lnTo>
                    <a:pt x="5777103" y="0"/>
                  </a:lnTo>
                  <a:cubicBezTo>
                    <a:pt x="6405118" y="0"/>
                    <a:pt x="6914261" y="509143"/>
                    <a:pt x="6914261" y="1137158"/>
                  </a:cubicBezTo>
                  <a:lnTo>
                    <a:pt x="6914261" y="5685536"/>
                  </a:lnTo>
                  <a:cubicBezTo>
                    <a:pt x="6914261" y="6313551"/>
                    <a:pt x="6405118" y="6822694"/>
                    <a:pt x="5777103" y="6822694"/>
                  </a:cubicBezTo>
                  <a:lnTo>
                    <a:pt x="1137158" y="6822694"/>
                  </a:lnTo>
                  <a:cubicBezTo>
                    <a:pt x="509143" y="6822694"/>
                    <a:pt x="0" y="6313551"/>
                    <a:pt x="0" y="5685536"/>
                  </a:cubicBezTo>
                  <a:close/>
                </a:path>
              </a:pathLst>
            </a:custGeom>
            <a:solidFill>
              <a:srgbClr val="8C7753"/>
            </a:solidFill>
            <a:ln w="38130" cap="sq">
              <a:solidFill>
                <a:srgbClr val="FFD966"/>
              </a:solidFill>
              <a:prstDash val="solid"/>
              <a:miter/>
            </a:ln>
          </p:spPr>
        </p:sp>
      </p:grpSp>
      <p:sp>
        <p:nvSpPr>
          <p:cNvPr name="TextBox 13" id="13"/>
          <p:cNvSpPr txBox="true"/>
          <p:nvPr/>
        </p:nvSpPr>
        <p:spPr>
          <a:xfrm rot="0">
            <a:off x="7482173" y="2795273"/>
            <a:ext cx="3305919" cy="457200"/>
          </a:xfrm>
          <a:prstGeom prst="rect">
            <a:avLst/>
          </a:prstGeom>
        </p:spPr>
        <p:txBody>
          <a:bodyPr anchor="t" rtlCol="false" tIns="0" lIns="0" bIns="0" rIns="0">
            <a:spAutoFit/>
          </a:bodyPr>
          <a:lstStyle/>
          <a:p>
            <a:pPr algn="ctr">
              <a:lnSpc>
                <a:spcPts val="3535"/>
              </a:lnSpc>
            </a:pPr>
            <a:r>
              <a:rPr lang="en-US" sz="2946" spc="-176">
                <a:solidFill>
                  <a:srgbClr val="FFFFFF"/>
                </a:solidFill>
                <a:latin typeface="Open Sauce"/>
                <a:ea typeface="Open Sauce"/>
                <a:cs typeface="Open Sauce"/>
                <a:sym typeface="Open Sauce"/>
              </a:rPr>
              <a:t>CHLEO'S QUESTION</a:t>
            </a:r>
          </a:p>
        </p:txBody>
      </p:sp>
      <p:sp>
        <p:nvSpPr>
          <p:cNvPr name="TextBox 14" id="14"/>
          <p:cNvSpPr txBox="true"/>
          <p:nvPr/>
        </p:nvSpPr>
        <p:spPr>
          <a:xfrm rot="0">
            <a:off x="6894566" y="3889591"/>
            <a:ext cx="4507440" cy="1628775"/>
          </a:xfrm>
          <a:prstGeom prst="rect">
            <a:avLst/>
          </a:prstGeom>
        </p:spPr>
        <p:txBody>
          <a:bodyPr anchor="t" rtlCol="false" tIns="0" lIns="0" bIns="0" rIns="0">
            <a:spAutoFit/>
          </a:bodyPr>
          <a:lstStyle/>
          <a:p>
            <a:pPr algn="ctr">
              <a:lnSpc>
                <a:spcPts val="4323"/>
              </a:lnSpc>
            </a:pPr>
            <a:r>
              <a:rPr lang="en-US" sz="3602" spc="-216">
                <a:solidFill>
                  <a:srgbClr val="FFFFFF"/>
                </a:solidFill>
                <a:latin typeface="Open Sauce"/>
                <a:ea typeface="Open Sauce"/>
                <a:cs typeface="Open Sauce"/>
                <a:sym typeface="Open Sauce"/>
              </a:rPr>
              <a:t>"What is the AI actually doing, and can we trust it?"</a:t>
            </a:r>
          </a:p>
        </p:txBody>
      </p:sp>
      <p:grpSp>
        <p:nvGrpSpPr>
          <p:cNvPr name="Group 15" id="15"/>
          <p:cNvGrpSpPr/>
          <p:nvPr/>
        </p:nvGrpSpPr>
        <p:grpSpPr>
          <a:xfrm rot="0">
            <a:off x="12001348" y="2552786"/>
            <a:ext cx="5303853" cy="5097951"/>
            <a:chOff x="0" y="0"/>
            <a:chExt cx="7071804" cy="6797269"/>
          </a:xfrm>
        </p:grpSpPr>
        <p:sp>
          <p:nvSpPr>
            <p:cNvPr name="Freeform 16" id="16"/>
            <p:cNvSpPr/>
            <p:nvPr/>
          </p:nvSpPr>
          <p:spPr>
            <a:xfrm flipH="false" flipV="false" rot="0">
              <a:off x="0" y="0"/>
              <a:ext cx="7071741" cy="6797167"/>
            </a:xfrm>
            <a:custGeom>
              <a:avLst/>
              <a:gdLst/>
              <a:ahLst/>
              <a:cxnLst/>
              <a:rect r="r" b="b" t="t" l="l"/>
              <a:pathLst>
                <a:path h="6797167" w="7071741">
                  <a:moveTo>
                    <a:pt x="0" y="1132840"/>
                  </a:moveTo>
                  <a:cubicBezTo>
                    <a:pt x="0" y="507238"/>
                    <a:pt x="507238" y="0"/>
                    <a:pt x="1132840" y="0"/>
                  </a:cubicBezTo>
                  <a:lnTo>
                    <a:pt x="5938901" y="0"/>
                  </a:lnTo>
                  <a:cubicBezTo>
                    <a:pt x="6564630" y="0"/>
                    <a:pt x="7071741" y="507238"/>
                    <a:pt x="7071741" y="1132840"/>
                  </a:cubicBezTo>
                  <a:lnTo>
                    <a:pt x="7071741" y="5664327"/>
                  </a:lnTo>
                  <a:cubicBezTo>
                    <a:pt x="7071741" y="6290056"/>
                    <a:pt x="6564503" y="6797167"/>
                    <a:pt x="5938901" y="6797167"/>
                  </a:cubicBezTo>
                  <a:lnTo>
                    <a:pt x="1132840" y="6797167"/>
                  </a:lnTo>
                  <a:cubicBezTo>
                    <a:pt x="507111" y="6797167"/>
                    <a:pt x="0" y="6289929"/>
                    <a:pt x="0" y="5664327"/>
                  </a:cubicBezTo>
                  <a:close/>
                </a:path>
              </a:pathLst>
            </a:custGeom>
            <a:solidFill>
              <a:srgbClr val="8C7753"/>
            </a:solidFill>
            <a:ln w="19065" cap="sq">
              <a:solidFill>
                <a:srgbClr val="D2DAE2"/>
              </a:solidFill>
              <a:prstDash val="solid"/>
              <a:miter/>
            </a:ln>
          </p:spPr>
        </p:sp>
      </p:grpSp>
      <p:sp>
        <p:nvSpPr>
          <p:cNvPr name="TextBox 17" id="17"/>
          <p:cNvSpPr txBox="true"/>
          <p:nvPr/>
        </p:nvSpPr>
        <p:spPr>
          <a:xfrm rot="0">
            <a:off x="12331113" y="2804798"/>
            <a:ext cx="4644323" cy="857250"/>
          </a:xfrm>
          <a:prstGeom prst="rect">
            <a:avLst/>
          </a:prstGeom>
        </p:spPr>
        <p:txBody>
          <a:bodyPr anchor="t" rtlCol="false" tIns="0" lIns="0" bIns="0" rIns="0">
            <a:spAutoFit/>
          </a:bodyPr>
          <a:lstStyle/>
          <a:p>
            <a:pPr algn="ctr">
              <a:lnSpc>
                <a:spcPts val="3377"/>
              </a:lnSpc>
            </a:pPr>
            <a:r>
              <a:rPr lang="en-US" sz="2814" spc="-168">
                <a:solidFill>
                  <a:srgbClr val="FFFFFF"/>
                </a:solidFill>
                <a:latin typeface="Open Sauce"/>
                <a:ea typeface="Open Sauce"/>
                <a:cs typeface="Open Sauce"/>
                <a:sym typeface="Open Sauce"/>
              </a:rPr>
              <a:t>AI OPPORTUNITIES EXPLORED</a:t>
            </a:r>
          </a:p>
        </p:txBody>
      </p:sp>
      <p:sp>
        <p:nvSpPr>
          <p:cNvPr name="TextBox 18" id="18"/>
          <p:cNvSpPr txBox="true"/>
          <p:nvPr/>
        </p:nvSpPr>
        <p:spPr>
          <a:xfrm rot="0">
            <a:off x="12135507" y="3784816"/>
            <a:ext cx="5037439" cy="3260932"/>
          </a:xfrm>
          <a:prstGeom prst="rect">
            <a:avLst/>
          </a:prstGeom>
        </p:spPr>
        <p:txBody>
          <a:bodyPr anchor="t" rtlCol="false" tIns="0" lIns="0" bIns="0" rIns="0">
            <a:spAutoFit/>
          </a:bodyPr>
          <a:lstStyle/>
          <a:p>
            <a:pPr algn="l" marL="471042" indent="-235521" lvl="1">
              <a:lnSpc>
                <a:spcPts val="4369"/>
              </a:lnSpc>
              <a:buAutoNum type="arabicPeriod" startAt="1"/>
            </a:pPr>
            <a:r>
              <a:rPr lang="en-US" b="true" sz="2600">
                <a:solidFill>
                  <a:srgbClr val="FFFFFF"/>
                </a:solidFill>
                <a:latin typeface="Open Sauce Bold"/>
                <a:ea typeface="Open Sauce Bold"/>
                <a:cs typeface="Open Sauce Bold"/>
                <a:sym typeface="Open Sauce Bold"/>
              </a:rPr>
              <a:t>Crew Change Risk Copilot ★</a:t>
            </a:r>
          </a:p>
          <a:p>
            <a:pPr algn="l" marL="471042" indent="-235521" lvl="1">
              <a:lnSpc>
                <a:spcPts val="4369"/>
              </a:lnSpc>
              <a:buAutoNum type="arabicPeriod" startAt="1"/>
            </a:pPr>
            <a:r>
              <a:rPr lang="en-US" b="true" sz="2600">
                <a:solidFill>
                  <a:srgbClr val="FFFFFF"/>
                </a:solidFill>
                <a:latin typeface="Open Sauce Bold"/>
                <a:ea typeface="Open Sauce Bold"/>
                <a:cs typeface="Open Sauce Bold"/>
                <a:sym typeface="Open Sauce Bold"/>
              </a:rPr>
              <a:t>AI Operational Briefing &amp; Exception Reporting</a:t>
            </a:r>
          </a:p>
          <a:p>
            <a:pPr algn="l" marL="471042" indent="-235521" lvl="1">
              <a:lnSpc>
                <a:spcPts val="4369"/>
              </a:lnSpc>
              <a:buAutoNum type="arabicPeriod" startAt="1"/>
            </a:pPr>
            <a:r>
              <a:rPr lang="en-US" b="true" sz="2600">
                <a:solidFill>
                  <a:srgbClr val="FFFFFF"/>
                </a:solidFill>
                <a:latin typeface="Open Sauce Bold"/>
                <a:ea typeface="Open Sauce Bold"/>
                <a:cs typeface="Open Sauce Bold"/>
                <a:sym typeface="Open Sauce Bold"/>
              </a:rPr>
              <a:t>AI-Assisted Communication &amp; Document Analysis</a:t>
            </a:r>
          </a:p>
        </p:txBody>
      </p:sp>
      <p:sp>
        <p:nvSpPr>
          <p:cNvPr name="TextBox 19" id="19"/>
          <p:cNvSpPr txBox="true"/>
          <p:nvPr/>
        </p:nvSpPr>
        <p:spPr>
          <a:xfrm rot="0">
            <a:off x="1239926" y="8322945"/>
            <a:ext cx="15913960" cy="342900"/>
          </a:xfrm>
          <a:prstGeom prst="rect">
            <a:avLst/>
          </a:prstGeom>
        </p:spPr>
        <p:txBody>
          <a:bodyPr anchor="t" rtlCol="false" tIns="0" lIns="0" bIns="0" rIns="0">
            <a:spAutoFit/>
          </a:bodyPr>
          <a:lstStyle/>
          <a:p>
            <a:pPr algn="ctr">
              <a:lnSpc>
                <a:spcPts val="2738"/>
              </a:lnSpc>
            </a:pPr>
            <a:r>
              <a:rPr lang="en-US" sz="2281">
                <a:solidFill>
                  <a:srgbClr val="331B0D"/>
                </a:solidFill>
                <a:latin typeface="Open Sauce"/>
                <a:ea typeface="Open Sauce"/>
                <a:cs typeface="Open Sauce"/>
                <a:sym typeface="Open Sauce"/>
              </a:rPr>
              <a:t>Focus: practical operational value while keeping human judgement and accountability.</a:t>
            </a:r>
          </a:p>
        </p:txBody>
      </p:sp>
      <p:sp>
        <p:nvSpPr>
          <p:cNvPr name="TextBox 20" id="20"/>
          <p:cNvSpPr txBox="true"/>
          <p:nvPr/>
        </p:nvSpPr>
        <p:spPr>
          <a:xfrm rot="0">
            <a:off x="13082264" y="9764239"/>
            <a:ext cx="4327874" cy="161925"/>
          </a:xfrm>
          <a:prstGeom prst="rect">
            <a:avLst/>
          </a:prstGeom>
        </p:spPr>
        <p:txBody>
          <a:bodyPr anchor="t" rtlCol="false" tIns="0" lIns="0" bIns="0" rIns="0">
            <a:spAutoFit/>
          </a:bodyPr>
          <a:lstStyle/>
          <a:p>
            <a:pPr algn="r">
              <a:lnSpc>
                <a:spcPts val="1297"/>
              </a:lnSpc>
            </a:pPr>
            <a:r>
              <a:rPr lang="en-US" sz="1080">
                <a:solidFill>
                  <a:srgbClr val="8C7753"/>
                </a:solidFill>
                <a:latin typeface="Open Sauce"/>
                <a:ea typeface="Open Sauce"/>
                <a:cs typeface="Open Sauce"/>
                <a:sym typeface="Open Sauce"/>
              </a:rPr>
              <a:t>Crew Change Risk Copilot  |  Round 1 Presentation  |  1</a:t>
            </a:r>
          </a:p>
        </p:txBody>
      </p:sp>
      <p:grpSp>
        <p:nvGrpSpPr>
          <p:cNvPr name="Group 21" id="21"/>
          <p:cNvGrpSpPr/>
          <p:nvPr/>
        </p:nvGrpSpPr>
        <p:grpSpPr>
          <a:xfrm rot="0">
            <a:off x="754971" y="137265"/>
            <a:ext cx="8127368" cy="737811"/>
            <a:chOff x="0" y="0"/>
            <a:chExt cx="10836491" cy="983749"/>
          </a:xfrm>
        </p:grpSpPr>
        <p:sp>
          <p:nvSpPr>
            <p:cNvPr name="Freeform 22" id="22"/>
            <p:cNvSpPr/>
            <p:nvPr/>
          </p:nvSpPr>
          <p:spPr>
            <a:xfrm flipH="false" flipV="false" rot="0">
              <a:off x="0" y="0"/>
              <a:ext cx="10836486" cy="983742"/>
            </a:xfrm>
            <a:custGeom>
              <a:avLst/>
              <a:gdLst/>
              <a:ahLst/>
              <a:cxnLst/>
              <a:rect r="r" b="b" t="t" l="l"/>
              <a:pathLst>
                <a:path h="983742" w="10836486">
                  <a:moveTo>
                    <a:pt x="0" y="0"/>
                  </a:moveTo>
                  <a:lnTo>
                    <a:pt x="10836486" y="0"/>
                  </a:lnTo>
                  <a:lnTo>
                    <a:pt x="10836486" y="983742"/>
                  </a:lnTo>
                  <a:lnTo>
                    <a:pt x="0" y="983742"/>
                  </a:lnTo>
                  <a:close/>
                </a:path>
              </a:pathLst>
            </a:custGeom>
            <a:blipFill>
              <a:blip r:embed="rId3">
                <a:alphaModFix amt="0"/>
              </a:blip>
              <a:stretch>
                <a:fillRect l="0" t="-164638" r="0" b="-164639"/>
              </a:stretch>
            </a:blipFill>
          </p:spPr>
        </p:sp>
        <p:sp>
          <p:nvSpPr>
            <p:cNvPr name="TextBox 23" id="23"/>
            <p:cNvSpPr txBox="true"/>
            <p:nvPr/>
          </p:nvSpPr>
          <p:spPr>
            <a:xfrm>
              <a:off x="0" y="0"/>
              <a:ext cx="10836491" cy="983749"/>
            </a:xfrm>
            <a:prstGeom prst="rect">
              <a:avLst/>
            </a:prstGeom>
          </p:spPr>
          <p:txBody>
            <a:bodyPr anchor="b" rtlCol="false" tIns="0" lIns="0" bIns="0" rIns="0"/>
            <a:lstStyle/>
            <a:p>
              <a:pPr algn="l">
                <a:lnSpc>
                  <a:spcPts val="2918"/>
                </a:lnSpc>
              </a:pPr>
              <a:r>
                <a:rPr lang="en-US" b="true" sz="2431">
                  <a:solidFill>
                    <a:srgbClr val="331B0D"/>
                  </a:solidFill>
                  <a:latin typeface="Open Sauce Bold"/>
                  <a:ea typeface="Open Sauce Bold"/>
                  <a:cs typeface="Open Sauce Bold"/>
                  <a:sym typeface="Open Sauce Bold"/>
                </a:rPr>
                <a:t>AI for Smarter Crew Change Operations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grpSp>
        <p:nvGrpSpPr>
          <p:cNvPr name="Group 2" id="2"/>
          <p:cNvGrpSpPr/>
          <p:nvPr/>
        </p:nvGrpSpPr>
        <p:grpSpPr>
          <a:xfrm rot="0">
            <a:off x="-9535" y="-92192"/>
            <a:ext cx="18319461" cy="10395547"/>
            <a:chOff x="0" y="0"/>
            <a:chExt cx="24425948" cy="13860729"/>
          </a:xfrm>
        </p:grpSpPr>
        <p:sp>
          <p:nvSpPr>
            <p:cNvPr name="Freeform 3" id="3"/>
            <p:cNvSpPr/>
            <p:nvPr/>
          </p:nvSpPr>
          <p:spPr>
            <a:xfrm flipH="false" flipV="false" rot="0">
              <a:off x="0" y="0"/>
              <a:ext cx="24425911" cy="13860780"/>
            </a:xfrm>
            <a:custGeom>
              <a:avLst/>
              <a:gdLst/>
              <a:ahLst/>
              <a:cxnLst/>
              <a:rect r="r" b="b" t="t" l="l"/>
              <a:pathLst>
                <a:path h="13860780" w="24425911">
                  <a:moveTo>
                    <a:pt x="0" y="0"/>
                  </a:moveTo>
                  <a:lnTo>
                    <a:pt x="24425911" y="0"/>
                  </a:lnTo>
                  <a:lnTo>
                    <a:pt x="24425911" y="13860780"/>
                  </a:lnTo>
                  <a:lnTo>
                    <a:pt x="0" y="13860780"/>
                  </a:lnTo>
                  <a:close/>
                </a:path>
              </a:pathLst>
            </a:custGeom>
            <a:solidFill>
              <a:srgbClr val="FAF7F0"/>
            </a:solidFill>
            <a:ln w="19065" cap="sq">
              <a:solidFill>
                <a:srgbClr val="DCD6CA"/>
              </a:solidFill>
              <a:prstDash val="solid"/>
              <a:miter/>
            </a:ln>
          </p:spPr>
        </p:sp>
      </p:grpSp>
      <p:sp>
        <p:nvSpPr>
          <p:cNvPr name="AutoShape 4" id="4"/>
          <p:cNvSpPr/>
          <p:nvPr/>
        </p:nvSpPr>
        <p:spPr>
          <a:xfrm rot="-4647840">
            <a:off x="239811" y="412213"/>
            <a:ext cx="1273578" cy="0"/>
          </a:xfrm>
          <a:prstGeom prst="line">
            <a:avLst/>
          </a:prstGeom>
          <a:ln cap="rnd" w="142875">
            <a:solidFill>
              <a:srgbClr val="8C7753"/>
            </a:solidFill>
            <a:prstDash val="solid"/>
            <a:headEnd type="none" len="sm" w="sm"/>
            <a:tailEnd type="none" len="sm" w="sm"/>
          </a:ln>
        </p:spPr>
      </p:sp>
      <p:sp>
        <p:nvSpPr>
          <p:cNvPr name="AutoShape 5" id="5"/>
          <p:cNvSpPr/>
          <p:nvPr/>
        </p:nvSpPr>
        <p:spPr>
          <a:xfrm rot="-4767600">
            <a:off x="-146837" y="533476"/>
            <a:ext cx="1511227" cy="0"/>
          </a:xfrm>
          <a:prstGeom prst="line">
            <a:avLst/>
          </a:prstGeom>
          <a:ln cap="rnd" w="142875">
            <a:solidFill>
              <a:srgbClr val="8C7753"/>
            </a:solidFill>
            <a:prstDash val="solid"/>
            <a:headEnd type="none" len="sm" w="sm"/>
            <a:tailEnd type="none" len="sm" w="sm"/>
          </a:ln>
        </p:spPr>
      </p:sp>
      <p:sp>
        <p:nvSpPr>
          <p:cNvPr name="TextBox 6" id="6"/>
          <p:cNvSpPr txBox="true"/>
          <p:nvPr/>
        </p:nvSpPr>
        <p:spPr>
          <a:xfrm rot="0">
            <a:off x="887587" y="1185034"/>
            <a:ext cx="9864319" cy="285750"/>
          </a:xfrm>
          <a:prstGeom prst="rect">
            <a:avLst/>
          </a:prstGeom>
        </p:spPr>
        <p:txBody>
          <a:bodyPr anchor="t" rtlCol="false" tIns="0" lIns="0" bIns="0" rIns="0">
            <a:spAutoFit/>
          </a:bodyPr>
          <a:lstStyle/>
          <a:p>
            <a:pPr algn="l">
              <a:lnSpc>
                <a:spcPts val="2301"/>
              </a:lnSpc>
            </a:pPr>
            <a:r>
              <a:rPr lang="en-US" sz="1917">
                <a:solidFill>
                  <a:srgbClr val="331B0D"/>
                </a:solidFill>
                <a:latin typeface="Open Sauce"/>
                <a:ea typeface="Open Sauce"/>
                <a:cs typeface="Open Sauce"/>
                <a:sym typeface="Open Sauce"/>
              </a:rPr>
              <a:t>Using available data to understand workforce and travel-related operational factors</a:t>
            </a:r>
          </a:p>
        </p:txBody>
      </p:sp>
      <p:grpSp>
        <p:nvGrpSpPr>
          <p:cNvPr name="Group 7" id="7"/>
          <p:cNvGrpSpPr/>
          <p:nvPr/>
        </p:nvGrpSpPr>
        <p:grpSpPr>
          <a:xfrm rot="0">
            <a:off x="638670" y="6555467"/>
            <a:ext cx="9155916" cy="3152384"/>
            <a:chOff x="0" y="0"/>
            <a:chExt cx="12207888" cy="4203179"/>
          </a:xfrm>
        </p:grpSpPr>
        <p:sp>
          <p:nvSpPr>
            <p:cNvPr name="Freeform 8" id="8"/>
            <p:cNvSpPr/>
            <p:nvPr/>
          </p:nvSpPr>
          <p:spPr>
            <a:xfrm flipH="false" flipV="false" rot="0">
              <a:off x="0" y="0"/>
              <a:ext cx="12207875" cy="4203192"/>
            </a:xfrm>
            <a:custGeom>
              <a:avLst/>
              <a:gdLst/>
              <a:ahLst/>
              <a:cxnLst/>
              <a:rect r="r" b="b" t="t" l="l"/>
              <a:pathLst>
                <a:path h="4203192" w="12207875">
                  <a:moveTo>
                    <a:pt x="0" y="700532"/>
                  </a:moveTo>
                  <a:cubicBezTo>
                    <a:pt x="0" y="313690"/>
                    <a:pt x="313690" y="0"/>
                    <a:pt x="700532" y="0"/>
                  </a:cubicBezTo>
                  <a:lnTo>
                    <a:pt x="11507343" y="0"/>
                  </a:lnTo>
                  <a:cubicBezTo>
                    <a:pt x="11894186" y="0"/>
                    <a:pt x="12207875" y="313690"/>
                    <a:pt x="12207875" y="700532"/>
                  </a:cubicBezTo>
                  <a:lnTo>
                    <a:pt x="12207875" y="3502660"/>
                  </a:lnTo>
                  <a:cubicBezTo>
                    <a:pt x="12207875" y="3889502"/>
                    <a:pt x="11894186" y="4203192"/>
                    <a:pt x="11507343" y="4203192"/>
                  </a:cubicBezTo>
                  <a:lnTo>
                    <a:pt x="700532" y="4203192"/>
                  </a:lnTo>
                  <a:cubicBezTo>
                    <a:pt x="313690" y="4203192"/>
                    <a:pt x="0" y="3889502"/>
                    <a:pt x="0" y="3502660"/>
                  </a:cubicBezTo>
                  <a:close/>
                </a:path>
              </a:pathLst>
            </a:custGeom>
            <a:solidFill>
              <a:srgbClr val="8C7753"/>
            </a:solidFill>
            <a:ln w="38130" cap="sq">
              <a:solidFill>
                <a:srgbClr val="76EAFF"/>
              </a:solidFill>
              <a:prstDash val="solid"/>
              <a:miter/>
            </a:ln>
          </p:spPr>
        </p:sp>
      </p:grpSp>
      <p:sp>
        <p:nvSpPr>
          <p:cNvPr name="TextBox 9" id="9"/>
          <p:cNvSpPr txBox="true"/>
          <p:nvPr/>
        </p:nvSpPr>
        <p:spPr>
          <a:xfrm rot="0">
            <a:off x="731368" y="6096343"/>
            <a:ext cx="9005802" cy="314325"/>
          </a:xfrm>
          <a:prstGeom prst="rect">
            <a:avLst/>
          </a:prstGeom>
        </p:spPr>
        <p:txBody>
          <a:bodyPr anchor="t" rtlCol="false" tIns="0" lIns="0" bIns="0" rIns="0">
            <a:spAutoFit/>
          </a:bodyPr>
          <a:lstStyle/>
          <a:p>
            <a:pPr algn="ctr">
              <a:lnSpc>
                <a:spcPts val="2594"/>
              </a:lnSpc>
            </a:pPr>
            <a:r>
              <a:rPr lang="en-US" sz="2161" spc="-129">
                <a:solidFill>
                  <a:srgbClr val="331B0D"/>
                </a:solidFill>
                <a:latin typeface="Open Sauce"/>
                <a:ea typeface="Open Sauce"/>
                <a:cs typeface="Open Sauce"/>
                <a:sym typeface="Open Sauce"/>
              </a:rPr>
              <a:t>WHY THIS MATTERS FOR CREW CHANGE OPERATIONS</a:t>
            </a:r>
          </a:p>
        </p:txBody>
      </p:sp>
      <p:grpSp>
        <p:nvGrpSpPr>
          <p:cNvPr name="Group 10" id="10"/>
          <p:cNvGrpSpPr/>
          <p:nvPr/>
        </p:nvGrpSpPr>
        <p:grpSpPr>
          <a:xfrm rot="0">
            <a:off x="791194" y="6731813"/>
            <a:ext cx="8848020" cy="2654787"/>
            <a:chOff x="0" y="0"/>
            <a:chExt cx="11797360" cy="3539715"/>
          </a:xfrm>
        </p:grpSpPr>
        <p:sp>
          <p:nvSpPr>
            <p:cNvPr name="Freeform 11" id="11"/>
            <p:cNvSpPr/>
            <p:nvPr/>
          </p:nvSpPr>
          <p:spPr>
            <a:xfrm flipH="false" flipV="false" rot="0">
              <a:off x="0" y="0"/>
              <a:ext cx="11797357" cy="3539712"/>
            </a:xfrm>
            <a:custGeom>
              <a:avLst/>
              <a:gdLst/>
              <a:ahLst/>
              <a:cxnLst/>
              <a:rect r="r" b="b" t="t" l="l"/>
              <a:pathLst>
                <a:path h="3539712" w="11797357">
                  <a:moveTo>
                    <a:pt x="0" y="0"/>
                  </a:moveTo>
                  <a:lnTo>
                    <a:pt x="11797357" y="0"/>
                  </a:lnTo>
                  <a:lnTo>
                    <a:pt x="11797357" y="3539712"/>
                  </a:lnTo>
                  <a:lnTo>
                    <a:pt x="0" y="3539712"/>
                  </a:lnTo>
                  <a:close/>
                </a:path>
              </a:pathLst>
            </a:custGeom>
            <a:blipFill>
              <a:blip r:embed="rId3">
                <a:alphaModFix amt="0"/>
              </a:blip>
              <a:stretch>
                <a:fillRect l="0" t="-14940" r="0" b="-14940"/>
              </a:stretch>
            </a:blipFill>
          </p:spPr>
        </p:sp>
        <p:sp>
          <p:nvSpPr>
            <p:cNvPr name="TextBox 12" id="12"/>
            <p:cNvSpPr txBox="true"/>
            <p:nvPr/>
          </p:nvSpPr>
          <p:spPr>
            <a:xfrm>
              <a:off x="0" y="-161925"/>
              <a:ext cx="11797360" cy="3701640"/>
            </a:xfrm>
            <a:prstGeom prst="rect">
              <a:avLst/>
            </a:prstGeom>
          </p:spPr>
          <p:txBody>
            <a:bodyPr anchor="ctr" rtlCol="false" tIns="0" lIns="0" bIns="0" rIns="0"/>
            <a:lstStyle/>
            <a:p>
              <a:pPr algn="l">
                <a:lnSpc>
                  <a:spcPts val="4287"/>
                </a:lnSpc>
              </a:pPr>
              <a:r>
                <a:rPr lang="en-US" sz="2101">
                  <a:solidFill>
                    <a:srgbClr val="FFFFFF"/>
                  </a:solidFill>
                  <a:latin typeface="Open Sauce"/>
                  <a:ea typeface="Open Sauce"/>
                  <a:cs typeface="Open Sauce"/>
                  <a:sym typeface="Open Sauce"/>
                </a:rPr>
                <a:t>• Crew changes depend on multiple interconnected factors </a:t>
              </a:r>
            </a:p>
            <a:p>
              <a:pPr algn="l">
                <a:lnSpc>
                  <a:spcPts val="4287"/>
                </a:lnSpc>
              </a:pPr>
              <a:r>
                <a:rPr lang="en-US" sz="2101">
                  <a:solidFill>
                    <a:srgbClr val="FFFFFF"/>
                  </a:solidFill>
                  <a:latin typeface="Open Sauce"/>
                  <a:ea typeface="Open Sauce"/>
                  <a:cs typeface="Open Sauce"/>
                  <a:sym typeface="Open Sauce"/>
                </a:rPr>
                <a:t>• Travel disruptions can affect crew mobilisation and repatriation</a:t>
              </a:r>
            </a:p>
            <a:p>
              <a:pPr algn="l">
                <a:lnSpc>
                  <a:spcPts val="4287"/>
                </a:lnSpc>
              </a:pPr>
              <a:r>
                <a:rPr lang="en-US" sz="2101">
                  <a:solidFill>
                    <a:srgbClr val="FFFFFF"/>
                  </a:solidFill>
                  <a:latin typeface="Open Sauce"/>
                  <a:ea typeface="Open Sauce"/>
                  <a:cs typeface="Open Sauce"/>
                  <a:sym typeface="Open Sauce"/>
                </a:rPr>
                <a:t>• Workforce availability varies across different crew source markets</a:t>
              </a:r>
            </a:p>
            <a:p>
              <a:pPr algn="l">
                <a:lnSpc>
                  <a:spcPts val="4287"/>
                </a:lnSpc>
              </a:pPr>
              <a:r>
                <a:rPr lang="en-US" sz="2101">
                  <a:solidFill>
                    <a:srgbClr val="FFFFFF"/>
                  </a:solidFill>
                  <a:latin typeface="Open Sauce"/>
                  <a:ea typeface="Open Sauce"/>
                  <a:cs typeface="Open Sauce"/>
                  <a:sym typeface="Open Sauce"/>
                </a:rPr>
                <a:t>• Operations teams must combine information from multiple sources</a:t>
              </a:r>
            </a:p>
            <a:p>
              <a:pPr algn="l">
                <a:lnSpc>
                  <a:spcPts val="4287"/>
                </a:lnSpc>
              </a:pPr>
              <a:r>
                <a:rPr lang="en-US" sz="2101">
                  <a:solidFill>
                    <a:srgbClr val="FFFFFF"/>
                  </a:solidFill>
                  <a:latin typeface="Open Sauce"/>
                  <a:ea typeface="Open Sauce"/>
                  <a:cs typeface="Open Sauce"/>
                  <a:sym typeface="Open Sauce"/>
                </a:rPr>
                <a:t>• Opportunity for AI-supported monitoring and prioritisation</a:t>
              </a:r>
            </a:p>
          </p:txBody>
        </p:sp>
      </p:grpSp>
      <p:sp>
        <p:nvSpPr>
          <p:cNvPr name="TextBox 13" id="13"/>
          <p:cNvSpPr txBox="true"/>
          <p:nvPr/>
        </p:nvSpPr>
        <p:spPr>
          <a:xfrm rot="0">
            <a:off x="13082264" y="9764239"/>
            <a:ext cx="4327874" cy="161925"/>
          </a:xfrm>
          <a:prstGeom prst="rect">
            <a:avLst/>
          </a:prstGeom>
        </p:spPr>
        <p:txBody>
          <a:bodyPr anchor="t" rtlCol="false" tIns="0" lIns="0" bIns="0" rIns="0">
            <a:spAutoFit/>
          </a:bodyPr>
          <a:lstStyle/>
          <a:p>
            <a:pPr algn="r">
              <a:lnSpc>
                <a:spcPts val="1297"/>
              </a:lnSpc>
            </a:pPr>
            <a:r>
              <a:rPr lang="en-US" sz="1080">
                <a:solidFill>
                  <a:srgbClr val="8C7753"/>
                </a:solidFill>
                <a:latin typeface="Open Sauce"/>
                <a:ea typeface="Open Sauce"/>
                <a:cs typeface="Open Sauce"/>
                <a:sym typeface="Open Sauce"/>
              </a:rPr>
              <a:t>Crew Change Risk Copilot  |  Round 1 Presentation  |  2</a:t>
            </a:r>
          </a:p>
        </p:txBody>
      </p:sp>
      <p:grpSp>
        <p:nvGrpSpPr>
          <p:cNvPr name="Group 14" id="14"/>
          <p:cNvGrpSpPr/>
          <p:nvPr/>
        </p:nvGrpSpPr>
        <p:grpSpPr>
          <a:xfrm rot="0">
            <a:off x="649157" y="1761592"/>
            <a:ext cx="9135970" cy="4126278"/>
            <a:chOff x="0" y="0"/>
            <a:chExt cx="12181294" cy="5501704"/>
          </a:xfrm>
        </p:grpSpPr>
        <p:sp>
          <p:nvSpPr>
            <p:cNvPr name="Freeform 15" id="15" descr="Dashboard2 Airports"/>
            <p:cNvSpPr/>
            <p:nvPr/>
          </p:nvSpPr>
          <p:spPr>
            <a:xfrm flipH="false" flipV="false" rot="0">
              <a:off x="0" y="0"/>
              <a:ext cx="12181332" cy="5501640"/>
            </a:xfrm>
            <a:custGeom>
              <a:avLst/>
              <a:gdLst/>
              <a:ahLst/>
              <a:cxnLst/>
              <a:rect r="r" b="b" t="t" l="l"/>
              <a:pathLst>
                <a:path h="5501640" w="12181332">
                  <a:moveTo>
                    <a:pt x="0" y="0"/>
                  </a:moveTo>
                  <a:lnTo>
                    <a:pt x="12181332" y="0"/>
                  </a:lnTo>
                  <a:lnTo>
                    <a:pt x="12181332" y="5501640"/>
                  </a:lnTo>
                  <a:lnTo>
                    <a:pt x="0" y="5501640"/>
                  </a:lnTo>
                  <a:lnTo>
                    <a:pt x="0" y="0"/>
                  </a:lnTo>
                  <a:close/>
                </a:path>
              </a:pathLst>
            </a:custGeom>
            <a:blipFill>
              <a:blip r:embed="rId4"/>
              <a:stretch>
                <a:fillRect l="0" t="0" r="-1591" b="-1"/>
              </a:stretch>
            </a:blipFill>
          </p:spPr>
        </p:sp>
      </p:grpSp>
      <p:grpSp>
        <p:nvGrpSpPr>
          <p:cNvPr name="Group 16" id="16"/>
          <p:cNvGrpSpPr/>
          <p:nvPr/>
        </p:nvGrpSpPr>
        <p:grpSpPr>
          <a:xfrm rot="0">
            <a:off x="9944252" y="1761592"/>
            <a:ext cx="7567127" cy="4126278"/>
            <a:chOff x="0" y="0"/>
            <a:chExt cx="10089502" cy="5501704"/>
          </a:xfrm>
        </p:grpSpPr>
        <p:sp>
          <p:nvSpPr>
            <p:cNvPr name="Freeform 17" id="17" descr="Total Seafarer Supplier Countries 2021"/>
            <p:cNvSpPr/>
            <p:nvPr/>
          </p:nvSpPr>
          <p:spPr>
            <a:xfrm flipH="false" flipV="false" rot="0">
              <a:off x="0" y="0"/>
              <a:ext cx="10089515" cy="5501640"/>
            </a:xfrm>
            <a:custGeom>
              <a:avLst/>
              <a:gdLst/>
              <a:ahLst/>
              <a:cxnLst/>
              <a:rect r="r" b="b" t="t" l="l"/>
              <a:pathLst>
                <a:path h="5501640" w="10089515">
                  <a:moveTo>
                    <a:pt x="0" y="0"/>
                  </a:moveTo>
                  <a:lnTo>
                    <a:pt x="10089515" y="0"/>
                  </a:lnTo>
                  <a:lnTo>
                    <a:pt x="10089515" y="5501640"/>
                  </a:lnTo>
                  <a:lnTo>
                    <a:pt x="0" y="5501640"/>
                  </a:lnTo>
                  <a:lnTo>
                    <a:pt x="0" y="0"/>
                  </a:lnTo>
                  <a:close/>
                </a:path>
              </a:pathLst>
            </a:custGeom>
            <a:blipFill>
              <a:blip r:embed="rId5"/>
              <a:stretch>
                <a:fillRect l="0" t="0" r="-24072" b="-9898"/>
              </a:stretch>
            </a:blipFill>
          </p:spPr>
        </p:sp>
      </p:grpSp>
      <p:grpSp>
        <p:nvGrpSpPr>
          <p:cNvPr name="Group 18" id="18"/>
          <p:cNvGrpSpPr/>
          <p:nvPr/>
        </p:nvGrpSpPr>
        <p:grpSpPr>
          <a:xfrm rot="0">
            <a:off x="9963312" y="6076931"/>
            <a:ext cx="7614523" cy="3402130"/>
            <a:chOff x="0" y="0"/>
            <a:chExt cx="10152698" cy="4536173"/>
          </a:xfrm>
        </p:grpSpPr>
        <p:sp>
          <p:nvSpPr>
            <p:cNvPr name="Freeform 19" id="19" descr="Dashboard1 Seafarers"/>
            <p:cNvSpPr/>
            <p:nvPr/>
          </p:nvSpPr>
          <p:spPr>
            <a:xfrm flipH="false" flipV="false" rot="0">
              <a:off x="0" y="0"/>
              <a:ext cx="10152634" cy="4536186"/>
            </a:xfrm>
            <a:custGeom>
              <a:avLst/>
              <a:gdLst/>
              <a:ahLst/>
              <a:cxnLst/>
              <a:rect r="r" b="b" t="t" l="l"/>
              <a:pathLst>
                <a:path h="4536186" w="10152634">
                  <a:moveTo>
                    <a:pt x="0" y="0"/>
                  </a:moveTo>
                  <a:lnTo>
                    <a:pt x="10152634" y="0"/>
                  </a:lnTo>
                  <a:lnTo>
                    <a:pt x="10152634" y="4536186"/>
                  </a:lnTo>
                  <a:lnTo>
                    <a:pt x="0" y="4536186"/>
                  </a:lnTo>
                  <a:lnTo>
                    <a:pt x="0" y="0"/>
                  </a:lnTo>
                  <a:close/>
                </a:path>
              </a:pathLst>
            </a:custGeom>
            <a:blipFill>
              <a:blip r:embed="rId6"/>
              <a:stretch>
                <a:fillRect l="0" t="0" r="-100682" b="-99683"/>
              </a:stretch>
            </a:blipFill>
          </p:spPr>
        </p:sp>
      </p:grpSp>
      <p:grpSp>
        <p:nvGrpSpPr>
          <p:cNvPr name="Group 20" id="20"/>
          <p:cNvGrpSpPr/>
          <p:nvPr/>
        </p:nvGrpSpPr>
        <p:grpSpPr>
          <a:xfrm rot="0">
            <a:off x="10061496" y="5347706"/>
            <a:ext cx="7338079" cy="398459"/>
            <a:chOff x="0" y="0"/>
            <a:chExt cx="9784105" cy="531279"/>
          </a:xfrm>
        </p:grpSpPr>
        <p:sp>
          <p:nvSpPr>
            <p:cNvPr name="Freeform 21" id="21" descr="Dashboard1 Seafarers"/>
            <p:cNvSpPr/>
            <p:nvPr/>
          </p:nvSpPr>
          <p:spPr>
            <a:xfrm flipH="false" flipV="false" rot="0">
              <a:off x="0" y="0"/>
              <a:ext cx="9784080" cy="531241"/>
            </a:xfrm>
            <a:custGeom>
              <a:avLst/>
              <a:gdLst/>
              <a:ahLst/>
              <a:cxnLst/>
              <a:rect r="r" b="b" t="t" l="l"/>
              <a:pathLst>
                <a:path h="531241" w="9784080">
                  <a:moveTo>
                    <a:pt x="0" y="0"/>
                  </a:moveTo>
                  <a:lnTo>
                    <a:pt x="9784080" y="0"/>
                  </a:lnTo>
                  <a:lnTo>
                    <a:pt x="9784080" y="531241"/>
                  </a:lnTo>
                  <a:lnTo>
                    <a:pt x="0" y="531241"/>
                  </a:lnTo>
                  <a:lnTo>
                    <a:pt x="0" y="0"/>
                  </a:lnTo>
                  <a:close/>
                </a:path>
              </a:pathLst>
            </a:custGeom>
            <a:blipFill>
              <a:blip r:embed="rId6"/>
              <a:stretch>
                <a:fillRect l="-126523" t="-1930595" r="-29120" b="-62598"/>
              </a:stretch>
            </a:blipFill>
          </p:spPr>
        </p:sp>
      </p:grpSp>
      <p:grpSp>
        <p:nvGrpSpPr>
          <p:cNvPr name="Group 22" id="22"/>
          <p:cNvGrpSpPr/>
          <p:nvPr/>
        </p:nvGrpSpPr>
        <p:grpSpPr>
          <a:xfrm rot="0">
            <a:off x="754971" y="137265"/>
            <a:ext cx="10874616" cy="737811"/>
            <a:chOff x="0" y="0"/>
            <a:chExt cx="14499488" cy="983749"/>
          </a:xfrm>
        </p:grpSpPr>
        <p:sp>
          <p:nvSpPr>
            <p:cNvPr name="Freeform 23" id="23"/>
            <p:cNvSpPr/>
            <p:nvPr/>
          </p:nvSpPr>
          <p:spPr>
            <a:xfrm flipH="false" flipV="false" rot="0">
              <a:off x="0" y="0"/>
              <a:ext cx="14499487" cy="983742"/>
            </a:xfrm>
            <a:custGeom>
              <a:avLst/>
              <a:gdLst/>
              <a:ahLst/>
              <a:cxnLst/>
              <a:rect r="r" b="b" t="t" l="l"/>
              <a:pathLst>
                <a:path h="983742" w="14499487">
                  <a:moveTo>
                    <a:pt x="0" y="0"/>
                  </a:moveTo>
                  <a:lnTo>
                    <a:pt x="14499487" y="0"/>
                  </a:lnTo>
                  <a:lnTo>
                    <a:pt x="14499487" y="983742"/>
                  </a:lnTo>
                  <a:lnTo>
                    <a:pt x="0" y="983742"/>
                  </a:lnTo>
                  <a:close/>
                </a:path>
              </a:pathLst>
            </a:custGeom>
            <a:blipFill>
              <a:blip r:embed="rId3">
                <a:alphaModFix amt="0"/>
              </a:blip>
              <a:stretch>
                <a:fillRect l="0" t="-237191" r="0" b="-237192"/>
              </a:stretch>
            </a:blipFill>
          </p:spPr>
        </p:sp>
        <p:sp>
          <p:nvSpPr>
            <p:cNvPr name="TextBox 24" id="24"/>
            <p:cNvSpPr txBox="true"/>
            <p:nvPr/>
          </p:nvSpPr>
          <p:spPr>
            <a:xfrm>
              <a:off x="0" y="0"/>
              <a:ext cx="14499488" cy="983749"/>
            </a:xfrm>
            <a:prstGeom prst="rect">
              <a:avLst/>
            </a:prstGeom>
          </p:spPr>
          <p:txBody>
            <a:bodyPr anchor="b" rtlCol="false" tIns="0" lIns="0" bIns="0" rIns="0"/>
            <a:lstStyle/>
            <a:p>
              <a:pPr algn="l">
                <a:lnSpc>
                  <a:spcPts val="2918"/>
                </a:lnSpc>
              </a:pPr>
              <a:r>
                <a:rPr lang="en-US" sz="2431" spc="-145">
                  <a:solidFill>
                    <a:srgbClr val="331B0D"/>
                  </a:solidFill>
                  <a:latin typeface="Open Sauce"/>
                  <a:ea typeface="Open Sauce"/>
                  <a:cs typeface="Open Sauce"/>
                  <a:sym typeface="Open Sauce"/>
                </a:rPr>
                <a:t>Operational Context: Where Could Disruption Occur?</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grpSp>
        <p:nvGrpSpPr>
          <p:cNvPr name="Group 2" id="2"/>
          <p:cNvGrpSpPr/>
          <p:nvPr/>
        </p:nvGrpSpPr>
        <p:grpSpPr>
          <a:xfrm rot="0">
            <a:off x="-9535" y="-92192"/>
            <a:ext cx="18319461" cy="10395547"/>
            <a:chOff x="0" y="0"/>
            <a:chExt cx="24425948" cy="13860729"/>
          </a:xfrm>
        </p:grpSpPr>
        <p:sp>
          <p:nvSpPr>
            <p:cNvPr name="Freeform 3" id="3"/>
            <p:cNvSpPr/>
            <p:nvPr/>
          </p:nvSpPr>
          <p:spPr>
            <a:xfrm flipH="false" flipV="false" rot="0">
              <a:off x="0" y="0"/>
              <a:ext cx="24425911" cy="13860780"/>
            </a:xfrm>
            <a:custGeom>
              <a:avLst/>
              <a:gdLst/>
              <a:ahLst/>
              <a:cxnLst/>
              <a:rect r="r" b="b" t="t" l="l"/>
              <a:pathLst>
                <a:path h="13860780" w="24425911">
                  <a:moveTo>
                    <a:pt x="0" y="0"/>
                  </a:moveTo>
                  <a:lnTo>
                    <a:pt x="24425911" y="0"/>
                  </a:lnTo>
                  <a:lnTo>
                    <a:pt x="24425911" y="13860780"/>
                  </a:lnTo>
                  <a:lnTo>
                    <a:pt x="0" y="13860780"/>
                  </a:lnTo>
                  <a:close/>
                </a:path>
              </a:pathLst>
            </a:custGeom>
            <a:solidFill>
              <a:srgbClr val="FAF7F0"/>
            </a:solidFill>
            <a:ln w="19065" cap="sq">
              <a:solidFill>
                <a:srgbClr val="DCD6CA"/>
              </a:solidFill>
              <a:prstDash val="solid"/>
              <a:miter/>
            </a:ln>
          </p:spPr>
        </p:sp>
      </p:grpSp>
      <p:sp>
        <p:nvSpPr>
          <p:cNvPr name="AutoShape 4" id="4"/>
          <p:cNvSpPr/>
          <p:nvPr/>
        </p:nvSpPr>
        <p:spPr>
          <a:xfrm rot="-4647840">
            <a:off x="239811" y="412213"/>
            <a:ext cx="1273578" cy="0"/>
          </a:xfrm>
          <a:prstGeom prst="line">
            <a:avLst/>
          </a:prstGeom>
          <a:ln cap="rnd" w="142875">
            <a:solidFill>
              <a:srgbClr val="8C7753"/>
            </a:solidFill>
            <a:prstDash val="solid"/>
            <a:headEnd type="none" len="sm" w="sm"/>
            <a:tailEnd type="none" len="sm" w="sm"/>
          </a:ln>
        </p:spPr>
      </p:sp>
      <p:sp>
        <p:nvSpPr>
          <p:cNvPr name="AutoShape 5" id="5"/>
          <p:cNvSpPr/>
          <p:nvPr/>
        </p:nvSpPr>
        <p:spPr>
          <a:xfrm rot="-4767600">
            <a:off x="-146837" y="533476"/>
            <a:ext cx="1511227" cy="0"/>
          </a:xfrm>
          <a:prstGeom prst="line">
            <a:avLst/>
          </a:prstGeom>
          <a:ln cap="rnd" w="142875">
            <a:solidFill>
              <a:srgbClr val="8C7753"/>
            </a:solidFill>
            <a:prstDash val="solid"/>
            <a:headEnd type="none" len="sm" w="sm"/>
            <a:tailEnd type="none" len="sm" w="sm"/>
          </a:ln>
        </p:spPr>
      </p:sp>
      <p:sp>
        <p:nvSpPr>
          <p:cNvPr name="TextBox 6" id="6"/>
          <p:cNvSpPr txBox="true"/>
          <p:nvPr/>
        </p:nvSpPr>
        <p:spPr>
          <a:xfrm rot="0">
            <a:off x="887587" y="1194559"/>
            <a:ext cx="12462862" cy="276225"/>
          </a:xfrm>
          <a:prstGeom prst="rect">
            <a:avLst/>
          </a:prstGeom>
        </p:spPr>
        <p:txBody>
          <a:bodyPr anchor="t" rtlCol="false" tIns="0" lIns="0" bIns="0" rIns="0">
            <a:spAutoFit/>
          </a:bodyPr>
          <a:lstStyle/>
          <a:p>
            <a:pPr algn="l">
              <a:lnSpc>
                <a:spcPts val="2285"/>
              </a:lnSpc>
            </a:pPr>
            <a:r>
              <a:rPr lang="en-US" sz="1904">
                <a:solidFill>
                  <a:srgbClr val="331B0D"/>
                </a:solidFill>
                <a:latin typeface="Open Sauce"/>
                <a:ea typeface="Open Sauce"/>
                <a:cs typeface="Open Sauce"/>
                <a:sym typeface="Open Sauce"/>
              </a:rPr>
              <a:t>AI-supported decision support for proactive identification and review of potential crew-change disruptions</a:t>
            </a:r>
          </a:p>
        </p:txBody>
      </p:sp>
      <p:grpSp>
        <p:nvGrpSpPr>
          <p:cNvPr name="Group 7" id="7"/>
          <p:cNvGrpSpPr/>
          <p:nvPr/>
        </p:nvGrpSpPr>
        <p:grpSpPr>
          <a:xfrm rot="0">
            <a:off x="881529" y="2060313"/>
            <a:ext cx="4892050" cy="3656647"/>
            <a:chOff x="0" y="0"/>
            <a:chExt cx="6522733" cy="4875530"/>
          </a:xfrm>
        </p:grpSpPr>
        <p:sp>
          <p:nvSpPr>
            <p:cNvPr name="Freeform 8" id="8"/>
            <p:cNvSpPr/>
            <p:nvPr/>
          </p:nvSpPr>
          <p:spPr>
            <a:xfrm flipH="false" flipV="false" rot="0">
              <a:off x="0" y="0"/>
              <a:ext cx="6522720" cy="4875530"/>
            </a:xfrm>
            <a:custGeom>
              <a:avLst/>
              <a:gdLst/>
              <a:ahLst/>
              <a:cxnLst/>
              <a:rect r="r" b="b" t="t" l="l"/>
              <a:pathLst>
                <a:path h="4875530" w="6522720">
                  <a:moveTo>
                    <a:pt x="0" y="812546"/>
                  </a:moveTo>
                  <a:cubicBezTo>
                    <a:pt x="0" y="363855"/>
                    <a:pt x="363855" y="0"/>
                    <a:pt x="812546" y="0"/>
                  </a:cubicBezTo>
                  <a:lnTo>
                    <a:pt x="5710174" y="0"/>
                  </a:lnTo>
                  <a:cubicBezTo>
                    <a:pt x="6158992" y="0"/>
                    <a:pt x="6522720" y="363855"/>
                    <a:pt x="6522720" y="812546"/>
                  </a:cubicBezTo>
                  <a:lnTo>
                    <a:pt x="6522720" y="4062984"/>
                  </a:lnTo>
                  <a:cubicBezTo>
                    <a:pt x="6522720" y="4511802"/>
                    <a:pt x="6158865" y="4875530"/>
                    <a:pt x="5710174" y="4875530"/>
                  </a:cubicBezTo>
                  <a:lnTo>
                    <a:pt x="812546" y="4875530"/>
                  </a:lnTo>
                  <a:cubicBezTo>
                    <a:pt x="363855" y="4875530"/>
                    <a:pt x="0" y="4511675"/>
                    <a:pt x="0" y="4062984"/>
                  </a:cubicBezTo>
                  <a:close/>
                </a:path>
              </a:pathLst>
            </a:custGeom>
            <a:solidFill>
              <a:srgbClr val="FAF7F0"/>
            </a:solidFill>
            <a:ln w="19065" cap="sq">
              <a:solidFill>
                <a:srgbClr val="09FFFF"/>
              </a:solidFill>
              <a:prstDash val="solid"/>
              <a:miter/>
            </a:ln>
          </p:spPr>
        </p:sp>
      </p:grpSp>
      <p:grpSp>
        <p:nvGrpSpPr>
          <p:cNvPr name="Group 9" id="9"/>
          <p:cNvGrpSpPr/>
          <p:nvPr/>
        </p:nvGrpSpPr>
        <p:grpSpPr>
          <a:xfrm rot="0">
            <a:off x="1134551" y="2191512"/>
            <a:ext cx="4388358" cy="533817"/>
            <a:chOff x="0" y="0"/>
            <a:chExt cx="5851144" cy="711756"/>
          </a:xfrm>
        </p:grpSpPr>
        <p:sp>
          <p:nvSpPr>
            <p:cNvPr name="Freeform 10" id="10"/>
            <p:cNvSpPr/>
            <p:nvPr/>
          </p:nvSpPr>
          <p:spPr>
            <a:xfrm flipH="false" flipV="false" rot="0">
              <a:off x="0" y="0"/>
              <a:ext cx="5851144" cy="711705"/>
            </a:xfrm>
            <a:custGeom>
              <a:avLst/>
              <a:gdLst/>
              <a:ahLst/>
              <a:cxnLst/>
              <a:rect r="r" b="b" t="t" l="l"/>
              <a:pathLst>
                <a:path h="711705" w="5851144">
                  <a:moveTo>
                    <a:pt x="355853" y="0"/>
                  </a:moveTo>
                  <a:lnTo>
                    <a:pt x="5495291" y="0"/>
                  </a:lnTo>
                  <a:cubicBezTo>
                    <a:pt x="5691824" y="0"/>
                    <a:pt x="5851144" y="159321"/>
                    <a:pt x="5851144" y="355853"/>
                  </a:cubicBezTo>
                  <a:lnTo>
                    <a:pt x="5851144" y="355853"/>
                  </a:lnTo>
                  <a:cubicBezTo>
                    <a:pt x="5851144" y="450231"/>
                    <a:pt x="5813653" y="540743"/>
                    <a:pt x="5746917" y="607478"/>
                  </a:cubicBezTo>
                  <a:cubicBezTo>
                    <a:pt x="5680182" y="674214"/>
                    <a:pt x="5589669" y="711705"/>
                    <a:pt x="5495291" y="711705"/>
                  </a:cubicBezTo>
                  <a:lnTo>
                    <a:pt x="355853" y="711705"/>
                  </a:lnTo>
                  <a:cubicBezTo>
                    <a:pt x="159321" y="711705"/>
                    <a:pt x="0" y="552385"/>
                    <a:pt x="0" y="355853"/>
                  </a:cubicBezTo>
                  <a:lnTo>
                    <a:pt x="0" y="355853"/>
                  </a:lnTo>
                  <a:cubicBezTo>
                    <a:pt x="0" y="159321"/>
                    <a:pt x="159321" y="0"/>
                    <a:pt x="355853" y="0"/>
                  </a:cubicBezTo>
                  <a:close/>
                </a:path>
              </a:pathLst>
            </a:custGeom>
            <a:solidFill>
              <a:srgbClr val="8C7753"/>
            </a:solidFill>
          </p:spPr>
        </p:sp>
        <p:sp>
          <p:nvSpPr>
            <p:cNvPr name="TextBox 11" id="11"/>
            <p:cNvSpPr txBox="true"/>
            <p:nvPr/>
          </p:nvSpPr>
          <p:spPr>
            <a:xfrm>
              <a:off x="0" y="9525"/>
              <a:ext cx="5851144" cy="702231"/>
            </a:xfrm>
            <a:prstGeom prst="rect">
              <a:avLst/>
            </a:prstGeom>
          </p:spPr>
          <p:txBody>
            <a:bodyPr anchor="t" rtlCol="false" tIns="50800" lIns="50800" bIns="50800" rIns="50800"/>
            <a:lstStyle/>
            <a:p>
              <a:pPr algn="ctr">
                <a:lnSpc>
                  <a:spcPts val="2594"/>
                </a:lnSpc>
              </a:pPr>
              <a:r>
                <a:rPr lang="en-US" sz="2161">
                  <a:solidFill>
                    <a:srgbClr val="FFFFFF"/>
                  </a:solidFill>
                  <a:latin typeface="Open Sauce"/>
                  <a:ea typeface="Open Sauce"/>
                  <a:cs typeface="Open Sauce"/>
                  <a:sym typeface="Open Sauce"/>
                </a:rPr>
                <a:t>OPERATIONAL INPUTS</a:t>
              </a:r>
            </a:p>
          </p:txBody>
        </p:sp>
      </p:grpSp>
      <p:sp>
        <p:nvSpPr>
          <p:cNvPr name="TextBox 12" id="12"/>
          <p:cNvSpPr txBox="true"/>
          <p:nvPr/>
        </p:nvSpPr>
        <p:spPr>
          <a:xfrm rot="0">
            <a:off x="1212466" y="3106788"/>
            <a:ext cx="4232519" cy="1085850"/>
          </a:xfrm>
          <a:prstGeom prst="rect">
            <a:avLst/>
          </a:prstGeom>
        </p:spPr>
        <p:txBody>
          <a:bodyPr anchor="t" rtlCol="false" tIns="0" lIns="0" bIns="0" rIns="0">
            <a:spAutoFit/>
          </a:bodyPr>
          <a:lstStyle/>
          <a:p>
            <a:pPr algn="l" marL="0" indent="0" lvl="0">
              <a:lnSpc>
                <a:spcPts val="2879"/>
              </a:lnSpc>
              <a:spcBef>
                <a:spcPct val="0"/>
              </a:spcBef>
            </a:pPr>
            <a:r>
              <a:rPr lang="en-US" b="true" sz="2400" strike="noStrike" u="none">
                <a:solidFill>
                  <a:srgbClr val="331B0D"/>
                </a:solidFill>
                <a:latin typeface="Open Sauce Bold"/>
                <a:ea typeface="Open Sauce Bold"/>
                <a:cs typeface="Open Sauce Bold"/>
                <a:sym typeface="Open Sauce Bold"/>
              </a:rPr>
              <a:t>• Crew change plans</a:t>
            </a:r>
          </a:p>
          <a:p>
            <a:pPr algn="l" marL="0" indent="0" lvl="0">
              <a:lnSpc>
                <a:spcPts val="2879"/>
              </a:lnSpc>
              <a:spcBef>
                <a:spcPct val="0"/>
              </a:spcBef>
            </a:pPr>
            <a:r>
              <a:rPr lang="en-US" b="true" sz="2400" strike="noStrike" u="none">
                <a:solidFill>
                  <a:srgbClr val="331B0D"/>
                </a:solidFill>
                <a:latin typeface="Open Sauce Bold"/>
                <a:ea typeface="Open Sauce Bold"/>
                <a:cs typeface="Open Sauce Bold"/>
                <a:sym typeface="Open Sauce Bold"/>
              </a:rPr>
              <a:t>• Travel information</a:t>
            </a:r>
          </a:p>
          <a:p>
            <a:pPr algn="l" marL="0" indent="0" lvl="0">
              <a:lnSpc>
                <a:spcPts val="2879"/>
              </a:lnSpc>
              <a:spcBef>
                <a:spcPct val="0"/>
              </a:spcBef>
            </a:pPr>
            <a:r>
              <a:rPr lang="en-US" b="true" sz="2400" strike="noStrike" u="none">
                <a:solidFill>
                  <a:srgbClr val="331B0D"/>
                </a:solidFill>
                <a:latin typeface="Open Sauce Bold"/>
                <a:ea typeface="Open Sauce Bold"/>
                <a:cs typeface="Open Sauce Bold"/>
                <a:sym typeface="Open Sauce Bold"/>
              </a:rPr>
              <a:t>• External context</a:t>
            </a:r>
          </a:p>
        </p:txBody>
      </p:sp>
      <p:sp>
        <p:nvSpPr>
          <p:cNvPr name="TextBox 13" id="13"/>
          <p:cNvSpPr txBox="true"/>
          <p:nvPr/>
        </p:nvSpPr>
        <p:spPr>
          <a:xfrm rot="0">
            <a:off x="5728037" y="3127953"/>
            <a:ext cx="1075283" cy="1371600"/>
          </a:xfrm>
          <a:prstGeom prst="rect">
            <a:avLst/>
          </a:prstGeom>
        </p:spPr>
        <p:txBody>
          <a:bodyPr anchor="t" rtlCol="false" tIns="0" lIns="0" bIns="0" rIns="0">
            <a:spAutoFit/>
          </a:bodyPr>
          <a:lstStyle/>
          <a:p>
            <a:pPr algn="ctr">
              <a:lnSpc>
                <a:spcPts val="10808"/>
              </a:lnSpc>
            </a:pPr>
            <a:r>
              <a:rPr lang="en-US" sz="9007" spc="-540">
                <a:solidFill>
                  <a:srgbClr val="331B0D"/>
                </a:solidFill>
                <a:latin typeface="Open Sauce"/>
                <a:ea typeface="Open Sauce"/>
                <a:cs typeface="Open Sauce"/>
                <a:sym typeface="Open Sauce"/>
              </a:rPr>
              <a:t>→</a:t>
            </a:r>
          </a:p>
        </p:txBody>
      </p:sp>
      <p:grpSp>
        <p:nvGrpSpPr>
          <p:cNvPr name="Group 14" id="14"/>
          <p:cNvGrpSpPr/>
          <p:nvPr/>
        </p:nvGrpSpPr>
        <p:grpSpPr>
          <a:xfrm rot="0">
            <a:off x="6707029" y="1971313"/>
            <a:ext cx="4911119" cy="3675707"/>
            <a:chOff x="0" y="0"/>
            <a:chExt cx="6548158" cy="4900943"/>
          </a:xfrm>
        </p:grpSpPr>
        <p:sp>
          <p:nvSpPr>
            <p:cNvPr name="Freeform 15" id="15"/>
            <p:cNvSpPr/>
            <p:nvPr/>
          </p:nvSpPr>
          <p:spPr>
            <a:xfrm flipH="false" flipV="false" rot="0">
              <a:off x="0" y="0"/>
              <a:ext cx="6548120" cy="4900930"/>
            </a:xfrm>
            <a:custGeom>
              <a:avLst/>
              <a:gdLst/>
              <a:ahLst/>
              <a:cxnLst/>
              <a:rect r="r" b="b" t="t" l="l"/>
              <a:pathLst>
                <a:path h="4900930" w="6548120">
                  <a:moveTo>
                    <a:pt x="0" y="816864"/>
                  </a:moveTo>
                  <a:cubicBezTo>
                    <a:pt x="0" y="365760"/>
                    <a:pt x="365760" y="0"/>
                    <a:pt x="816864" y="0"/>
                  </a:cubicBezTo>
                  <a:lnTo>
                    <a:pt x="5731256" y="0"/>
                  </a:lnTo>
                  <a:cubicBezTo>
                    <a:pt x="6182360" y="0"/>
                    <a:pt x="6548120" y="365760"/>
                    <a:pt x="6548120" y="816864"/>
                  </a:cubicBezTo>
                  <a:lnTo>
                    <a:pt x="6548120" y="4084066"/>
                  </a:lnTo>
                  <a:cubicBezTo>
                    <a:pt x="6548120" y="4535170"/>
                    <a:pt x="6182360" y="4900930"/>
                    <a:pt x="5731256" y="4900930"/>
                  </a:cubicBezTo>
                  <a:lnTo>
                    <a:pt x="816864" y="4900930"/>
                  </a:lnTo>
                  <a:cubicBezTo>
                    <a:pt x="365760" y="4900930"/>
                    <a:pt x="0" y="4535297"/>
                    <a:pt x="0" y="4084066"/>
                  </a:cubicBezTo>
                  <a:close/>
                </a:path>
              </a:pathLst>
            </a:custGeom>
            <a:solidFill>
              <a:srgbClr val="FAF7F0"/>
            </a:solidFill>
            <a:ln w="38130" cap="sq">
              <a:solidFill>
                <a:srgbClr val="76EAFF"/>
              </a:solidFill>
              <a:prstDash val="solid"/>
              <a:miter/>
            </a:ln>
          </p:spPr>
        </p:sp>
      </p:grpSp>
      <p:grpSp>
        <p:nvGrpSpPr>
          <p:cNvPr name="Group 16" id="16"/>
          <p:cNvGrpSpPr/>
          <p:nvPr/>
        </p:nvGrpSpPr>
        <p:grpSpPr>
          <a:xfrm rot="0">
            <a:off x="6968223" y="2191512"/>
            <a:ext cx="4388739" cy="533817"/>
            <a:chOff x="0" y="0"/>
            <a:chExt cx="5851652" cy="711756"/>
          </a:xfrm>
        </p:grpSpPr>
        <p:sp>
          <p:nvSpPr>
            <p:cNvPr name="Freeform 17" id="17"/>
            <p:cNvSpPr/>
            <p:nvPr/>
          </p:nvSpPr>
          <p:spPr>
            <a:xfrm flipH="false" flipV="false" rot="0">
              <a:off x="0" y="0"/>
              <a:ext cx="5851652" cy="711705"/>
            </a:xfrm>
            <a:custGeom>
              <a:avLst/>
              <a:gdLst/>
              <a:ahLst/>
              <a:cxnLst/>
              <a:rect r="r" b="b" t="t" l="l"/>
              <a:pathLst>
                <a:path h="711705" w="5851652">
                  <a:moveTo>
                    <a:pt x="355853" y="0"/>
                  </a:moveTo>
                  <a:lnTo>
                    <a:pt x="5495799" y="0"/>
                  </a:lnTo>
                  <a:cubicBezTo>
                    <a:pt x="5590177" y="0"/>
                    <a:pt x="5680690" y="37492"/>
                    <a:pt x="5747425" y="104227"/>
                  </a:cubicBezTo>
                  <a:cubicBezTo>
                    <a:pt x="5814161" y="170962"/>
                    <a:pt x="5851652" y="261475"/>
                    <a:pt x="5851652" y="355853"/>
                  </a:cubicBezTo>
                  <a:lnTo>
                    <a:pt x="5851652" y="355853"/>
                  </a:lnTo>
                  <a:cubicBezTo>
                    <a:pt x="5851652" y="552385"/>
                    <a:pt x="5692332" y="711705"/>
                    <a:pt x="5495799" y="711705"/>
                  </a:cubicBezTo>
                  <a:lnTo>
                    <a:pt x="355853" y="711705"/>
                  </a:lnTo>
                  <a:cubicBezTo>
                    <a:pt x="159321" y="711705"/>
                    <a:pt x="0" y="552385"/>
                    <a:pt x="0" y="355853"/>
                  </a:cubicBezTo>
                  <a:lnTo>
                    <a:pt x="0" y="355853"/>
                  </a:lnTo>
                  <a:cubicBezTo>
                    <a:pt x="0" y="159321"/>
                    <a:pt x="159321" y="0"/>
                    <a:pt x="355853" y="0"/>
                  </a:cubicBezTo>
                  <a:close/>
                </a:path>
              </a:pathLst>
            </a:custGeom>
            <a:solidFill>
              <a:srgbClr val="8C7753"/>
            </a:solidFill>
            <a:ln cap="rnd">
              <a:noFill/>
              <a:prstDash val="solid"/>
              <a:round/>
            </a:ln>
          </p:spPr>
        </p:sp>
        <p:sp>
          <p:nvSpPr>
            <p:cNvPr name="TextBox 18" id="18"/>
            <p:cNvSpPr txBox="true"/>
            <p:nvPr/>
          </p:nvSpPr>
          <p:spPr>
            <a:xfrm>
              <a:off x="0" y="9525"/>
              <a:ext cx="5851652" cy="702231"/>
            </a:xfrm>
            <a:prstGeom prst="rect">
              <a:avLst/>
            </a:prstGeom>
          </p:spPr>
          <p:txBody>
            <a:bodyPr anchor="t" rtlCol="false" tIns="50800" lIns="50800" bIns="50800" rIns="50800"/>
            <a:lstStyle/>
            <a:p>
              <a:pPr algn="ctr" marL="0" indent="0" lvl="0">
                <a:lnSpc>
                  <a:spcPts val="2594"/>
                </a:lnSpc>
                <a:spcBef>
                  <a:spcPct val="0"/>
                </a:spcBef>
              </a:pPr>
              <a:r>
                <a:rPr lang="en-US" sz="2161" strike="noStrike" u="none">
                  <a:solidFill>
                    <a:srgbClr val="FFFFFF"/>
                  </a:solidFill>
                  <a:latin typeface="Open Sauce"/>
                  <a:ea typeface="Open Sauce"/>
                  <a:cs typeface="Open Sauce"/>
                  <a:sym typeface="Open Sauce"/>
                </a:rPr>
                <a:t>CREW CHANGE RISK COPILOT</a:t>
              </a:r>
            </a:p>
          </p:txBody>
        </p:sp>
      </p:grpSp>
      <p:sp>
        <p:nvSpPr>
          <p:cNvPr name="TextBox 19" id="19"/>
          <p:cNvSpPr txBox="true"/>
          <p:nvPr/>
        </p:nvSpPr>
        <p:spPr>
          <a:xfrm rot="0">
            <a:off x="7046328" y="3106788"/>
            <a:ext cx="4232519" cy="1447800"/>
          </a:xfrm>
          <a:prstGeom prst="rect">
            <a:avLst/>
          </a:prstGeom>
        </p:spPr>
        <p:txBody>
          <a:bodyPr anchor="t" rtlCol="false" tIns="0" lIns="0" bIns="0" rIns="0">
            <a:spAutoFit/>
          </a:bodyPr>
          <a:lstStyle/>
          <a:p>
            <a:pPr algn="l">
              <a:lnSpc>
                <a:spcPts val="2879"/>
              </a:lnSpc>
            </a:pPr>
            <a:r>
              <a:rPr lang="en-US" b="true" sz="2400">
                <a:solidFill>
                  <a:srgbClr val="331B0D"/>
                </a:solidFill>
                <a:latin typeface="Open Sauce Bold"/>
                <a:ea typeface="Open Sauce Bold"/>
                <a:cs typeface="Open Sauce Bold"/>
                <a:sym typeface="Open Sauce Bold"/>
              </a:rPr>
              <a:t>• Monitors</a:t>
            </a:r>
          </a:p>
          <a:p>
            <a:pPr algn="l">
              <a:lnSpc>
                <a:spcPts val="2879"/>
              </a:lnSpc>
            </a:pPr>
            <a:r>
              <a:rPr lang="en-US" b="true" sz="2400">
                <a:solidFill>
                  <a:srgbClr val="331B0D"/>
                </a:solidFill>
                <a:latin typeface="Open Sauce Bold"/>
                <a:ea typeface="Open Sauce Bold"/>
                <a:cs typeface="Open Sauce Bold"/>
                <a:sym typeface="Open Sauce Bold"/>
              </a:rPr>
              <a:t>• Identifies</a:t>
            </a:r>
          </a:p>
          <a:p>
            <a:pPr algn="l">
              <a:lnSpc>
                <a:spcPts val="2879"/>
              </a:lnSpc>
            </a:pPr>
            <a:r>
              <a:rPr lang="en-US" b="true" sz="2400">
                <a:solidFill>
                  <a:srgbClr val="331B0D"/>
                </a:solidFill>
                <a:latin typeface="Open Sauce Bold"/>
                <a:ea typeface="Open Sauce Bold"/>
                <a:cs typeface="Open Sauce Bold"/>
                <a:sym typeface="Open Sauce Bold"/>
              </a:rPr>
              <a:t>• Summarises</a:t>
            </a:r>
          </a:p>
          <a:p>
            <a:pPr algn="l">
              <a:lnSpc>
                <a:spcPts val="2879"/>
              </a:lnSpc>
            </a:pPr>
            <a:r>
              <a:rPr lang="en-US" b="true" sz="2400">
                <a:solidFill>
                  <a:srgbClr val="331B0D"/>
                </a:solidFill>
                <a:latin typeface="Open Sauce Bold"/>
                <a:ea typeface="Open Sauce Bold"/>
                <a:cs typeface="Open Sauce Bold"/>
                <a:sym typeface="Open Sauce Bold"/>
              </a:rPr>
              <a:t>• Explains</a:t>
            </a:r>
          </a:p>
        </p:txBody>
      </p:sp>
      <p:sp>
        <p:nvSpPr>
          <p:cNvPr name="TextBox 20" id="20"/>
          <p:cNvSpPr txBox="true"/>
          <p:nvPr/>
        </p:nvSpPr>
        <p:spPr>
          <a:xfrm rot="0">
            <a:off x="11561890" y="3127953"/>
            <a:ext cx="1075283" cy="1371600"/>
          </a:xfrm>
          <a:prstGeom prst="rect">
            <a:avLst/>
          </a:prstGeom>
        </p:spPr>
        <p:txBody>
          <a:bodyPr anchor="t" rtlCol="false" tIns="0" lIns="0" bIns="0" rIns="0">
            <a:spAutoFit/>
          </a:bodyPr>
          <a:lstStyle/>
          <a:p>
            <a:pPr algn="ctr">
              <a:lnSpc>
                <a:spcPts val="10808"/>
              </a:lnSpc>
            </a:pPr>
            <a:r>
              <a:rPr lang="en-US" sz="9007" spc="-540">
                <a:solidFill>
                  <a:srgbClr val="331B0D"/>
                </a:solidFill>
                <a:latin typeface="Open Sauce"/>
                <a:ea typeface="Open Sauce"/>
                <a:cs typeface="Open Sauce"/>
                <a:sym typeface="Open Sauce"/>
              </a:rPr>
              <a:t>→</a:t>
            </a:r>
          </a:p>
        </p:txBody>
      </p:sp>
      <p:grpSp>
        <p:nvGrpSpPr>
          <p:cNvPr name="Group 21" id="21"/>
          <p:cNvGrpSpPr/>
          <p:nvPr/>
        </p:nvGrpSpPr>
        <p:grpSpPr>
          <a:xfrm rot="0">
            <a:off x="12550416" y="1980838"/>
            <a:ext cx="4892050" cy="3656647"/>
            <a:chOff x="0" y="0"/>
            <a:chExt cx="6522733" cy="4875530"/>
          </a:xfrm>
        </p:grpSpPr>
        <p:sp>
          <p:nvSpPr>
            <p:cNvPr name="Freeform 22" id="22"/>
            <p:cNvSpPr/>
            <p:nvPr/>
          </p:nvSpPr>
          <p:spPr>
            <a:xfrm flipH="false" flipV="false" rot="0">
              <a:off x="0" y="0"/>
              <a:ext cx="6522720" cy="4875530"/>
            </a:xfrm>
            <a:custGeom>
              <a:avLst/>
              <a:gdLst/>
              <a:ahLst/>
              <a:cxnLst/>
              <a:rect r="r" b="b" t="t" l="l"/>
              <a:pathLst>
                <a:path h="4875530" w="6522720">
                  <a:moveTo>
                    <a:pt x="0" y="812546"/>
                  </a:moveTo>
                  <a:cubicBezTo>
                    <a:pt x="0" y="363855"/>
                    <a:pt x="363855" y="0"/>
                    <a:pt x="812546" y="0"/>
                  </a:cubicBezTo>
                  <a:lnTo>
                    <a:pt x="5710174" y="0"/>
                  </a:lnTo>
                  <a:cubicBezTo>
                    <a:pt x="6158992" y="0"/>
                    <a:pt x="6522720" y="363855"/>
                    <a:pt x="6522720" y="812546"/>
                  </a:cubicBezTo>
                  <a:lnTo>
                    <a:pt x="6522720" y="4062984"/>
                  </a:lnTo>
                  <a:cubicBezTo>
                    <a:pt x="6522720" y="4511802"/>
                    <a:pt x="6158865" y="4875530"/>
                    <a:pt x="5710174" y="4875530"/>
                  </a:cubicBezTo>
                  <a:lnTo>
                    <a:pt x="812546" y="4875530"/>
                  </a:lnTo>
                  <a:cubicBezTo>
                    <a:pt x="363855" y="4875530"/>
                    <a:pt x="0" y="4511675"/>
                    <a:pt x="0" y="4062984"/>
                  </a:cubicBezTo>
                  <a:close/>
                </a:path>
              </a:pathLst>
            </a:custGeom>
            <a:solidFill>
              <a:srgbClr val="FAF7F0"/>
            </a:solidFill>
            <a:ln w="19065" cap="sq">
              <a:solidFill>
                <a:srgbClr val="09FFFF"/>
              </a:solidFill>
              <a:prstDash val="solid"/>
              <a:miter/>
            </a:ln>
          </p:spPr>
        </p:sp>
      </p:grpSp>
      <p:grpSp>
        <p:nvGrpSpPr>
          <p:cNvPr name="Group 23" id="23"/>
          <p:cNvGrpSpPr/>
          <p:nvPr/>
        </p:nvGrpSpPr>
        <p:grpSpPr>
          <a:xfrm rot="0">
            <a:off x="12802267" y="2191512"/>
            <a:ext cx="4388358" cy="533817"/>
            <a:chOff x="0" y="0"/>
            <a:chExt cx="5851144" cy="711756"/>
          </a:xfrm>
        </p:grpSpPr>
        <p:sp>
          <p:nvSpPr>
            <p:cNvPr name="Freeform 24" id="24"/>
            <p:cNvSpPr/>
            <p:nvPr/>
          </p:nvSpPr>
          <p:spPr>
            <a:xfrm flipH="false" flipV="false" rot="0">
              <a:off x="0" y="0"/>
              <a:ext cx="5851144" cy="711705"/>
            </a:xfrm>
            <a:custGeom>
              <a:avLst/>
              <a:gdLst/>
              <a:ahLst/>
              <a:cxnLst/>
              <a:rect r="r" b="b" t="t" l="l"/>
              <a:pathLst>
                <a:path h="711705" w="5851144">
                  <a:moveTo>
                    <a:pt x="355853" y="0"/>
                  </a:moveTo>
                  <a:lnTo>
                    <a:pt x="5495291" y="0"/>
                  </a:lnTo>
                  <a:cubicBezTo>
                    <a:pt x="5691824" y="0"/>
                    <a:pt x="5851144" y="159321"/>
                    <a:pt x="5851144" y="355853"/>
                  </a:cubicBezTo>
                  <a:lnTo>
                    <a:pt x="5851144" y="355853"/>
                  </a:lnTo>
                  <a:cubicBezTo>
                    <a:pt x="5851144" y="450231"/>
                    <a:pt x="5813653" y="540743"/>
                    <a:pt x="5746917" y="607478"/>
                  </a:cubicBezTo>
                  <a:cubicBezTo>
                    <a:pt x="5680182" y="674214"/>
                    <a:pt x="5589669" y="711705"/>
                    <a:pt x="5495291" y="711705"/>
                  </a:cubicBezTo>
                  <a:lnTo>
                    <a:pt x="355853" y="711705"/>
                  </a:lnTo>
                  <a:cubicBezTo>
                    <a:pt x="159321" y="711705"/>
                    <a:pt x="0" y="552385"/>
                    <a:pt x="0" y="355853"/>
                  </a:cubicBezTo>
                  <a:lnTo>
                    <a:pt x="0" y="355853"/>
                  </a:lnTo>
                  <a:cubicBezTo>
                    <a:pt x="0" y="159321"/>
                    <a:pt x="159321" y="0"/>
                    <a:pt x="355853" y="0"/>
                  </a:cubicBezTo>
                  <a:close/>
                </a:path>
              </a:pathLst>
            </a:custGeom>
            <a:solidFill>
              <a:srgbClr val="8C7753"/>
            </a:solidFill>
            <a:ln cap="rnd">
              <a:noFill/>
              <a:prstDash val="solid"/>
              <a:round/>
            </a:ln>
          </p:spPr>
        </p:sp>
        <p:sp>
          <p:nvSpPr>
            <p:cNvPr name="TextBox 25" id="25"/>
            <p:cNvSpPr txBox="true"/>
            <p:nvPr/>
          </p:nvSpPr>
          <p:spPr>
            <a:xfrm>
              <a:off x="0" y="9525"/>
              <a:ext cx="5851144" cy="702231"/>
            </a:xfrm>
            <a:prstGeom prst="rect">
              <a:avLst/>
            </a:prstGeom>
          </p:spPr>
          <p:txBody>
            <a:bodyPr anchor="t" rtlCol="false" tIns="50800" lIns="50800" bIns="50800" rIns="50800"/>
            <a:lstStyle/>
            <a:p>
              <a:pPr algn="ctr" marL="0" indent="0" lvl="0">
                <a:lnSpc>
                  <a:spcPts val="2594"/>
                </a:lnSpc>
                <a:spcBef>
                  <a:spcPct val="0"/>
                </a:spcBef>
              </a:pPr>
              <a:r>
                <a:rPr lang="en-US" sz="2161" strike="noStrike" u="none">
                  <a:solidFill>
                    <a:srgbClr val="FFFFFF"/>
                  </a:solidFill>
                  <a:latin typeface="Open Sauce"/>
                  <a:ea typeface="Open Sauce"/>
                  <a:cs typeface="Open Sauce"/>
                  <a:sym typeface="Open Sauce"/>
                </a:rPr>
                <a:t>HUMAN REVIEW</a:t>
              </a:r>
            </a:p>
          </p:txBody>
        </p:sp>
      </p:grpSp>
      <p:sp>
        <p:nvSpPr>
          <p:cNvPr name="TextBox 26" id="26"/>
          <p:cNvSpPr txBox="true"/>
          <p:nvPr/>
        </p:nvSpPr>
        <p:spPr>
          <a:xfrm rot="0">
            <a:off x="12880181" y="3106788"/>
            <a:ext cx="4232519" cy="1085850"/>
          </a:xfrm>
          <a:prstGeom prst="rect">
            <a:avLst/>
          </a:prstGeom>
        </p:spPr>
        <p:txBody>
          <a:bodyPr anchor="t" rtlCol="false" tIns="0" lIns="0" bIns="0" rIns="0">
            <a:spAutoFit/>
          </a:bodyPr>
          <a:lstStyle/>
          <a:p>
            <a:pPr algn="l" marL="0" indent="0" lvl="0">
              <a:lnSpc>
                <a:spcPts val="2879"/>
              </a:lnSpc>
              <a:spcBef>
                <a:spcPct val="0"/>
              </a:spcBef>
            </a:pPr>
            <a:r>
              <a:rPr lang="en-US" b="true" sz="2400" strike="noStrike" u="none">
                <a:solidFill>
                  <a:srgbClr val="331B0D"/>
                </a:solidFill>
                <a:latin typeface="Open Sauce Bold"/>
                <a:ea typeface="Open Sauce Bold"/>
                <a:cs typeface="Open Sauce Bold"/>
                <a:sym typeface="Open Sauce Bold"/>
              </a:rPr>
              <a:t>• Prioritise cases</a:t>
            </a:r>
          </a:p>
          <a:p>
            <a:pPr algn="l" marL="0" indent="0" lvl="0">
              <a:lnSpc>
                <a:spcPts val="2879"/>
              </a:lnSpc>
              <a:spcBef>
                <a:spcPct val="0"/>
              </a:spcBef>
            </a:pPr>
            <a:r>
              <a:rPr lang="en-US" b="true" sz="2400" strike="noStrike" u="none">
                <a:solidFill>
                  <a:srgbClr val="331B0D"/>
                </a:solidFill>
                <a:latin typeface="Open Sauce Bold"/>
                <a:ea typeface="Open Sauce Bold"/>
                <a:cs typeface="Open Sauce Bold"/>
                <a:sym typeface="Open Sauce Bold"/>
              </a:rPr>
              <a:t>• Assess context</a:t>
            </a:r>
          </a:p>
          <a:p>
            <a:pPr algn="l" marL="0" indent="0" lvl="0">
              <a:lnSpc>
                <a:spcPts val="2879"/>
              </a:lnSpc>
              <a:spcBef>
                <a:spcPct val="0"/>
              </a:spcBef>
            </a:pPr>
            <a:r>
              <a:rPr lang="en-US" b="true" sz="2400" strike="noStrike" u="none">
                <a:solidFill>
                  <a:srgbClr val="331B0D"/>
                </a:solidFill>
                <a:latin typeface="Open Sauce Bold"/>
                <a:ea typeface="Open Sauce Bold"/>
                <a:cs typeface="Open Sauce Bold"/>
                <a:sym typeface="Open Sauce Bold"/>
              </a:rPr>
              <a:t>• Make decisions</a:t>
            </a:r>
          </a:p>
        </p:txBody>
      </p:sp>
      <p:grpSp>
        <p:nvGrpSpPr>
          <p:cNvPr name="Group 27" id="27"/>
          <p:cNvGrpSpPr/>
          <p:nvPr/>
        </p:nvGrpSpPr>
        <p:grpSpPr>
          <a:xfrm rot="0">
            <a:off x="1754924" y="6656508"/>
            <a:ext cx="4480246" cy="1872177"/>
            <a:chOff x="0" y="0"/>
            <a:chExt cx="5973661" cy="2496236"/>
          </a:xfrm>
        </p:grpSpPr>
        <p:sp>
          <p:nvSpPr>
            <p:cNvPr name="Freeform 28" id="28"/>
            <p:cNvSpPr/>
            <p:nvPr/>
          </p:nvSpPr>
          <p:spPr>
            <a:xfrm flipH="false" flipV="false" rot="0">
              <a:off x="0" y="0"/>
              <a:ext cx="5973699" cy="2496185"/>
            </a:xfrm>
            <a:custGeom>
              <a:avLst/>
              <a:gdLst/>
              <a:ahLst/>
              <a:cxnLst/>
              <a:rect r="r" b="b" t="t" l="l"/>
              <a:pathLst>
                <a:path h="2496185" w="5973699">
                  <a:moveTo>
                    <a:pt x="0" y="416052"/>
                  </a:moveTo>
                  <a:cubicBezTo>
                    <a:pt x="0" y="186309"/>
                    <a:pt x="186309" y="0"/>
                    <a:pt x="416052" y="0"/>
                  </a:cubicBezTo>
                  <a:lnTo>
                    <a:pt x="5557647" y="0"/>
                  </a:lnTo>
                  <a:cubicBezTo>
                    <a:pt x="5787390" y="0"/>
                    <a:pt x="5973699" y="186309"/>
                    <a:pt x="5973699" y="416052"/>
                  </a:cubicBezTo>
                  <a:lnTo>
                    <a:pt x="5973699" y="2080133"/>
                  </a:lnTo>
                  <a:cubicBezTo>
                    <a:pt x="5973699" y="2309876"/>
                    <a:pt x="5787390" y="2496185"/>
                    <a:pt x="5557647" y="2496185"/>
                  </a:cubicBezTo>
                  <a:lnTo>
                    <a:pt x="416052" y="2496185"/>
                  </a:lnTo>
                  <a:cubicBezTo>
                    <a:pt x="186309" y="2496185"/>
                    <a:pt x="0" y="2310003"/>
                    <a:pt x="0" y="2080133"/>
                  </a:cubicBezTo>
                  <a:close/>
                </a:path>
              </a:pathLst>
            </a:custGeom>
            <a:solidFill>
              <a:srgbClr val="8C7753"/>
            </a:solidFill>
            <a:ln w="19065" cap="sq">
              <a:solidFill>
                <a:srgbClr val="09FFFF"/>
              </a:solidFill>
              <a:prstDash val="solid"/>
              <a:miter/>
            </a:ln>
          </p:spPr>
        </p:sp>
      </p:grpSp>
      <p:sp>
        <p:nvSpPr>
          <p:cNvPr name="TextBox 29" id="29"/>
          <p:cNvSpPr txBox="true"/>
          <p:nvPr/>
        </p:nvSpPr>
        <p:spPr>
          <a:xfrm rot="0">
            <a:off x="2084689" y="6908521"/>
            <a:ext cx="1747093" cy="447675"/>
          </a:xfrm>
          <a:prstGeom prst="rect">
            <a:avLst/>
          </a:prstGeom>
        </p:spPr>
        <p:txBody>
          <a:bodyPr anchor="t" rtlCol="false" tIns="0" lIns="0" bIns="0" rIns="0">
            <a:spAutoFit/>
          </a:bodyPr>
          <a:lstStyle/>
          <a:p>
            <a:pPr algn="l">
              <a:lnSpc>
                <a:spcPts val="3590"/>
              </a:lnSpc>
            </a:pPr>
            <a:r>
              <a:rPr lang="en-US" b="true" sz="2992">
                <a:solidFill>
                  <a:srgbClr val="FFFFFF"/>
                </a:solidFill>
                <a:latin typeface="Open Sauce Bold"/>
                <a:ea typeface="Open Sauce Bold"/>
                <a:cs typeface="Open Sauce Bold"/>
                <a:sym typeface="Open Sauce Bold"/>
              </a:rPr>
              <a:t>IDENTIFY</a:t>
            </a:r>
          </a:p>
        </p:txBody>
      </p:sp>
      <p:sp>
        <p:nvSpPr>
          <p:cNvPr name="TextBox 30" id="30"/>
          <p:cNvSpPr txBox="true"/>
          <p:nvPr/>
        </p:nvSpPr>
        <p:spPr>
          <a:xfrm rot="0">
            <a:off x="2084689" y="7544152"/>
            <a:ext cx="3820716" cy="638175"/>
          </a:xfrm>
          <a:prstGeom prst="rect">
            <a:avLst/>
          </a:prstGeom>
        </p:spPr>
        <p:txBody>
          <a:bodyPr anchor="t" rtlCol="false" tIns="0" lIns="0" bIns="0" rIns="0">
            <a:spAutoFit/>
          </a:bodyPr>
          <a:lstStyle/>
          <a:p>
            <a:pPr algn="l">
              <a:lnSpc>
                <a:spcPts val="2513"/>
              </a:lnSpc>
            </a:pPr>
            <a:r>
              <a:rPr lang="en-US" sz="2094">
                <a:solidFill>
                  <a:srgbClr val="FFFFFF"/>
                </a:solidFill>
                <a:latin typeface="Open Sauce"/>
                <a:ea typeface="Open Sauce"/>
                <a:cs typeface="Open Sauce"/>
                <a:sym typeface="Open Sauce"/>
              </a:rPr>
              <a:t>Potential cases requiring additional attention</a:t>
            </a:r>
          </a:p>
        </p:txBody>
      </p:sp>
      <p:grpSp>
        <p:nvGrpSpPr>
          <p:cNvPr name="Group 31" id="31"/>
          <p:cNvGrpSpPr/>
          <p:nvPr/>
        </p:nvGrpSpPr>
        <p:grpSpPr>
          <a:xfrm rot="0">
            <a:off x="7039708" y="6656508"/>
            <a:ext cx="4480246" cy="1872177"/>
            <a:chOff x="0" y="0"/>
            <a:chExt cx="5973661" cy="2496236"/>
          </a:xfrm>
        </p:grpSpPr>
        <p:sp>
          <p:nvSpPr>
            <p:cNvPr name="Freeform 32" id="32"/>
            <p:cNvSpPr/>
            <p:nvPr/>
          </p:nvSpPr>
          <p:spPr>
            <a:xfrm flipH="false" flipV="false" rot="0">
              <a:off x="0" y="0"/>
              <a:ext cx="5973699" cy="2496185"/>
            </a:xfrm>
            <a:custGeom>
              <a:avLst/>
              <a:gdLst/>
              <a:ahLst/>
              <a:cxnLst/>
              <a:rect r="r" b="b" t="t" l="l"/>
              <a:pathLst>
                <a:path h="2496185" w="5973699">
                  <a:moveTo>
                    <a:pt x="0" y="416052"/>
                  </a:moveTo>
                  <a:cubicBezTo>
                    <a:pt x="0" y="186309"/>
                    <a:pt x="186309" y="0"/>
                    <a:pt x="416052" y="0"/>
                  </a:cubicBezTo>
                  <a:lnTo>
                    <a:pt x="5557647" y="0"/>
                  </a:lnTo>
                  <a:cubicBezTo>
                    <a:pt x="5787390" y="0"/>
                    <a:pt x="5973699" y="186309"/>
                    <a:pt x="5973699" y="416052"/>
                  </a:cubicBezTo>
                  <a:lnTo>
                    <a:pt x="5973699" y="2080133"/>
                  </a:lnTo>
                  <a:cubicBezTo>
                    <a:pt x="5973699" y="2309876"/>
                    <a:pt x="5787390" y="2496185"/>
                    <a:pt x="5557647" y="2496185"/>
                  </a:cubicBezTo>
                  <a:lnTo>
                    <a:pt x="416052" y="2496185"/>
                  </a:lnTo>
                  <a:cubicBezTo>
                    <a:pt x="186309" y="2496185"/>
                    <a:pt x="0" y="2310003"/>
                    <a:pt x="0" y="2080133"/>
                  </a:cubicBezTo>
                  <a:close/>
                </a:path>
              </a:pathLst>
            </a:custGeom>
            <a:solidFill>
              <a:srgbClr val="8C7753"/>
            </a:solidFill>
            <a:ln w="19065" cap="sq">
              <a:solidFill>
                <a:srgbClr val="09FFFF"/>
              </a:solidFill>
              <a:prstDash val="solid"/>
              <a:miter/>
            </a:ln>
          </p:spPr>
        </p:sp>
      </p:grpSp>
      <p:sp>
        <p:nvSpPr>
          <p:cNvPr name="TextBox 33" id="33"/>
          <p:cNvSpPr txBox="true"/>
          <p:nvPr/>
        </p:nvSpPr>
        <p:spPr>
          <a:xfrm rot="0">
            <a:off x="7369473" y="6908521"/>
            <a:ext cx="1634282" cy="447675"/>
          </a:xfrm>
          <a:prstGeom prst="rect">
            <a:avLst/>
          </a:prstGeom>
        </p:spPr>
        <p:txBody>
          <a:bodyPr anchor="t" rtlCol="false" tIns="0" lIns="0" bIns="0" rIns="0">
            <a:spAutoFit/>
          </a:bodyPr>
          <a:lstStyle/>
          <a:p>
            <a:pPr algn="l" marL="0" indent="0" lvl="0">
              <a:lnSpc>
                <a:spcPts val="3590"/>
              </a:lnSpc>
              <a:spcBef>
                <a:spcPct val="0"/>
              </a:spcBef>
            </a:pPr>
            <a:r>
              <a:rPr lang="en-US" b="true" sz="2992" strike="noStrike" u="none">
                <a:solidFill>
                  <a:srgbClr val="FFFFFF"/>
                </a:solidFill>
                <a:latin typeface="Open Sauce Bold"/>
                <a:ea typeface="Open Sauce Bold"/>
                <a:cs typeface="Open Sauce Bold"/>
                <a:sym typeface="Open Sauce Bold"/>
              </a:rPr>
              <a:t>EXPLAIN</a:t>
            </a:r>
          </a:p>
        </p:txBody>
      </p:sp>
      <p:sp>
        <p:nvSpPr>
          <p:cNvPr name="TextBox 34" id="34"/>
          <p:cNvSpPr txBox="true"/>
          <p:nvPr/>
        </p:nvSpPr>
        <p:spPr>
          <a:xfrm rot="0">
            <a:off x="7369473" y="7544152"/>
            <a:ext cx="3820716" cy="638175"/>
          </a:xfrm>
          <a:prstGeom prst="rect">
            <a:avLst/>
          </a:prstGeom>
        </p:spPr>
        <p:txBody>
          <a:bodyPr anchor="t" rtlCol="false" tIns="0" lIns="0" bIns="0" rIns="0">
            <a:spAutoFit/>
          </a:bodyPr>
          <a:lstStyle/>
          <a:p>
            <a:pPr algn="l">
              <a:lnSpc>
                <a:spcPts val="2513"/>
              </a:lnSpc>
            </a:pPr>
            <a:r>
              <a:rPr lang="en-US" sz="2094">
                <a:solidFill>
                  <a:srgbClr val="FFFFFF"/>
                </a:solidFill>
                <a:latin typeface="Open Sauce"/>
                <a:ea typeface="Open Sauce"/>
                <a:cs typeface="Open Sauce"/>
                <a:sym typeface="Open Sauce"/>
              </a:rPr>
              <a:t>Factors contributing to the operational concern</a:t>
            </a:r>
          </a:p>
        </p:txBody>
      </p:sp>
      <p:grpSp>
        <p:nvGrpSpPr>
          <p:cNvPr name="Group 35" id="35"/>
          <p:cNvGrpSpPr/>
          <p:nvPr/>
        </p:nvGrpSpPr>
        <p:grpSpPr>
          <a:xfrm rot="0">
            <a:off x="12324502" y="6656508"/>
            <a:ext cx="4480246" cy="1872177"/>
            <a:chOff x="0" y="0"/>
            <a:chExt cx="5973661" cy="2496236"/>
          </a:xfrm>
        </p:grpSpPr>
        <p:sp>
          <p:nvSpPr>
            <p:cNvPr name="Freeform 36" id="36"/>
            <p:cNvSpPr/>
            <p:nvPr/>
          </p:nvSpPr>
          <p:spPr>
            <a:xfrm flipH="false" flipV="false" rot="0">
              <a:off x="0" y="0"/>
              <a:ext cx="5973699" cy="2496185"/>
            </a:xfrm>
            <a:custGeom>
              <a:avLst/>
              <a:gdLst/>
              <a:ahLst/>
              <a:cxnLst/>
              <a:rect r="r" b="b" t="t" l="l"/>
              <a:pathLst>
                <a:path h="2496185" w="5973699">
                  <a:moveTo>
                    <a:pt x="0" y="416052"/>
                  </a:moveTo>
                  <a:cubicBezTo>
                    <a:pt x="0" y="186309"/>
                    <a:pt x="186309" y="0"/>
                    <a:pt x="416052" y="0"/>
                  </a:cubicBezTo>
                  <a:lnTo>
                    <a:pt x="5557647" y="0"/>
                  </a:lnTo>
                  <a:cubicBezTo>
                    <a:pt x="5787390" y="0"/>
                    <a:pt x="5973699" y="186309"/>
                    <a:pt x="5973699" y="416052"/>
                  </a:cubicBezTo>
                  <a:lnTo>
                    <a:pt x="5973699" y="2080133"/>
                  </a:lnTo>
                  <a:cubicBezTo>
                    <a:pt x="5973699" y="2309876"/>
                    <a:pt x="5787390" y="2496185"/>
                    <a:pt x="5557647" y="2496185"/>
                  </a:cubicBezTo>
                  <a:lnTo>
                    <a:pt x="416052" y="2496185"/>
                  </a:lnTo>
                  <a:cubicBezTo>
                    <a:pt x="186309" y="2496185"/>
                    <a:pt x="0" y="2310003"/>
                    <a:pt x="0" y="2080133"/>
                  </a:cubicBezTo>
                  <a:close/>
                </a:path>
              </a:pathLst>
            </a:custGeom>
            <a:solidFill>
              <a:srgbClr val="8C7753"/>
            </a:solidFill>
            <a:ln w="19065" cap="sq">
              <a:solidFill>
                <a:srgbClr val="09FFFF"/>
              </a:solidFill>
              <a:prstDash val="solid"/>
              <a:miter/>
            </a:ln>
          </p:spPr>
        </p:sp>
      </p:grpSp>
      <p:sp>
        <p:nvSpPr>
          <p:cNvPr name="TextBox 37" id="37"/>
          <p:cNvSpPr txBox="true"/>
          <p:nvPr/>
        </p:nvSpPr>
        <p:spPr>
          <a:xfrm rot="0">
            <a:off x="12654267" y="6908521"/>
            <a:ext cx="1863328" cy="447675"/>
          </a:xfrm>
          <a:prstGeom prst="rect">
            <a:avLst/>
          </a:prstGeom>
        </p:spPr>
        <p:txBody>
          <a:bodyPr anchor="t" rtlCol="false" tIns="0" lIns="0" bIns="0" rIns="0">
            <a:spAutoFit/>
          </a:bodyPr>
          <a:lstStyle/>
          <a:p>
            <a:pPr algn="l">
              <a:lnSpc>
                <a:spcPts val="3590"/>
              </a:lnSpc>
            </a:pPr>
            <a:r>
              <a:rPr lang="en-US" b="true" sz="2992">
                <a:solidFill>
                  <a:srgbClr val="FFFFFF"/>
                </a:solidFill>
                <a:latin typeface="Open Sauce Bold"/>
                <a:ea typeface="Open Sauce Bold"/>
                <a:cs typeface="Open Sauce Bold"/>
                <a:sym typeface="Open Sauce Bold"/>
              </a:rPr>
              <a:t>SUPPORT</a:t>
            </a:r>
          </a:p>
        </p:txBody>
      </p:sp>
      <p:sp>
        <p:nvSpPr>
          <p:cNvPr name="TextBox 38" id="38"/>
          <p:cNvSpPr txBox="true"/>
          <p:nvPr/>
        </p:nvSpPr>
        <p:spPr>
          <a:xfrm rot="0">
            <a:off x="12654267" y="7544152"/>
            <a:ext cx="3820716" cy="638175"/>
          </a:xfrm>
          <a:prstGeom prst="rect">
            <a:avLst/>
          </a:prstGeom>
        </p:spPr>
        <p:txBody>
          <a:bodyPr anchor="t" rtlCol="false" tIns="0" lIns="0" bIns="0" rIns="0">
            <a:spAutoFit/>
          </a:bodyPr>
          <a:lstStyle/>
          <a:p>
            <a:pPr algn="l">
              <a:lnSpc>
                <a:spcPts val="2513"/>
              </a:lnSpc>
            </a:pPr>
            <a:r>
              <a:rPr lang="en-US" sz="2094">
                <a:solidFill>
                  <a:srgbClr val="FFFFFF"/>
                </a:solidFill>
                <a:latin typeface="Open Sauce"/>
                <a:ea typeface="Open Sauce"/>
                <a:cs typeface="Open Sauce"/>
                <a:sym typeface="Open Sauce"/>
              </a:rPr>
              <a:t>Human decision-making, not autonomous decisions</a:t>
            </a:r>
          </a:p>
        </p:txBody>
      </p:sp>
      <p:sp>
        <p:nvSpPr>
          <p:cNvPr name="TextBox 39" id="39"/>
          <p:cNvSpPr txBox="true"/>
          <p:nvPr/>
        </p:nvSpPr>
        <p:spPr>
          <a:xfrm rot="0">
            <a:off x="13082264" y="9764239"/>
            <a:ext cx="4327874" cy="161925"/>
          </a:xfrm>
          <a:prstGeom prst="rect">
            <a:avLst/>
          </a:prstGeom>
        </p:spPr>
        <p:txBody>
          <a:bodyPr anchor="t" rtlCol="false" tIns="0" lIns="0" bIns="0" rIns="0">
            <a:spAutoFit/>
          </a:bodyPr>
          <a:lstStyle/>
          <a:p>
            <a:pPr algn="r">
              <a:lnSpc>
                <a:spcPts val="1297"/>
              </a:lnSpc>
            </a:pPr>
            <a:r>
              <a:rPr lang="en-US" sz="1080">
                <a:solidFill>
                  <a:srgbClr val="8C7753"/>
                </a:solidFill>
                <a:latin typeface="Open Sauce"/>
                <a:ea typeface="Open Sauce"/>
                <a:cs typeface="Open Sauce"/>
                <a:sym typeface="Open Sauce"/>
              </a:rPr>
              <a:t>Crew Change Risk Copilot  |  Round 1 Presentation  |  3</a:t>
            </a:r>
          </a:p>
        </p:txBody>
      </p:sp>
      <p:grpSp>
        <p:nvGrpSpPr>
          <p:cNvPr name="Group 40" id="40"/>
          <p:cNvGrpSpPr/>
          <p:nvPr/>
        </p:nvGrpSpPr>
        <p:grpSpPr>
          <a:xfrm rot="0">
            <a:off x="754971" y="137265"/>
            <a:ext cx="5342934" cy="737811"/>
            <a:chOff x="0" y="0"/>
            <a:chExt cx="7123913" cy="983749"/>
          </a:xfrm>
        </p:grpSpPr>
        <p:sp>
          <p:nvSpPr>
            <p:cNvPr name="Freeform 41" id="41"/>
            <p:cNvSpPr/>
            <p:nvPr/>
          </p:nvSpPr>
          <p:spPr>
            <a:xfrm flipH="false" flipV="false" rot="0">
              <a:off x="0" y="0"/>
              <a:ext cx="7123916" cy="983742"/>
            </a:xfrm>
            <a:custGeom>
              <a:avLst/>
              <a:gdLst/>
              <a:ahLst/>
              <a:cxnLst/>
              <a:rect r="r" b="b" t="t" l="l"/>
              <a:pathLst>
                <a:path h="983742" w="7123916">
                  <a:moveTo>
                    <a:pt x="0" y="0"/>
                  </a:moveTo>
                  <a:lnTo>
                    <a:pt x="7123916" y="0"/>
                  </a:lnTo>
                  <a:lnTo>
                    <a:pt x="7123916" y="983742"/>
                  </a:lnTo>
                  <a:lnTo>
                    <a:pt x="0" y="983742"/>
                  </a:lnTo>
                  <a:close/>
                </a:path>
              </a:pathLst>
            </a:custGeom>
            <a:blipFill>
              <a:blip r:embed="rId3">
                <a:alphaModFix amt="0"/>
              </a:blip>
              <a:stretch>
                <a:fillRect l="0" t="-91103" r="0" b="-91104"/>
              </a:stretch>
            </a:blipFill>
          </p:spPr>
        </p:sp>
        <p:sp>
          <p:nvSpPr>
            <p:cNvPr name="TextBox 42" id="42"/>
            <p:cNvSpPr txBox="true"/>
            <p:nvPr/>
          </p:nvSpPr>
          <p:spPr>
            <a:xfrm>
              <a:off x="0" y="0"/>
              <a:ext cx="7123913" cy="983749"/>
            </a:xfrm>
            <a:prstGeom prst="rect">
              <a:avLst/>
            </a:prstGeom>
          </p:spPr>
          <p:txBody>
            <a:bodyPr anchor="b" rtlCol="false" tIns="0" lIns="0" bIns="0" rIns="0"/>
            <a:lstStyle/>
            <a:p>
              <a:pPr algn="l">
                <a:lnSpc>
                  <a:spcPts val="2918"/>
                </a:lnSpc>
              </a:pPr>
              <a:r>
                <a:rPr lang="en-US" sz="2431">
                  <a:solidFill>
                    <a:srgbClr val="331B0D"/>
                  </a:solidFill>
                  <a:latin typeface="Open Sauce"/>
                  <a:ea typeface="Open Sauce"/>
                  <a:cs typeface="Open Sauce"/>
                  <a:sym typeface="Open Sauce"/>
                </a:rPr>
                <a:t>Crew Change Risk Copilot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grpSp>
        <p:nvGrpSpPr>
          <p:cNvPr name="Group 2" id="2"/>
          <p:cNvGrpSpPr/>
          <p:nvPr/>
        </p:nvGrpSpPr>
        <p:grpSpPr>
          <a:xfrm rot="0">
            <a:off x="-9535" y="-92192"/>
            <a:ext cx="18319461" cy="10395547"/>
            <a:chOff x="0" y="0"/>
            <a:chExt cx="24425948" cy="13860729"/>
          </a:xfrm>
        </p:grpSpPr>
        <p:sp>
          <p:nvSpPr>
            <p:cNvPr name="Freeform 3" id="3"/>
            <p:cNvSpPr/>
            <p:nvPr/>
          </p:nvSpPr>
          <p:spPr>
            <a:xfrm flipH="false" flipV="false" rot="0">
              <a:off x="0" y="0"/>
              <a:ext cx="24425911" cy="13860780"/>
            </a:xfrm>
            <a:custGeom>
              <a:avLst/>
              <a:gdLst/>
              <a:ahLst/>
              <a:cxnLst/>
              <a:rect r="r" b="b" t="t" l="l"/>
              <a:pathLst>
                <a:path h="13860780" w="24425911">
                  <a:moveTo>
                    <a:pt x="0" y="0"/>
                  </a:moveTo>
                  <a:lnTo>
                    <a:pt x="24425911" y="0"/>
                  </a:lnTo>
                  <a:lnTo>
                    <a:pt x="24425911" y="13860780"/>
                  </a:lnTo>
                  <a:lnTo>
                    <a:pt x="0" y="13860780"/>
                  </a:lnTo>
                  <a:close/>
                </a:path>
              </a:pathLst>
            </a:custGeom>
            <a:solidFill>
              <a:srgbClr val="FAF7F0"/>
            </a:solidFill>
            <a:ln w="19065" cap="sq">
              <a:solidFill>
                <a:srgbClr val="DCD6CA"/>
              </a:solidFill>
              <a:prstDash val="solid"/>
              <a:miter/>
            </a:ln>
          </p:spPr>
        </p:sp>
      </p:grpSp>
      <p:sp>
        <p:nvSpPr>
          <p:cNvPr name="AutoShape 4" id="4"/>
          <p:cNvSpPr/>
          <p:nvPr/>
        </p:nvSpPr>
        <p:spPr>
          <a:xfrm rot="-4647840">
            <a:off x="239811" y="412213"/>
            <a:ext cx="1273578" cy="0"/>
          </a:xfrm>
          <a:prstGeom prst="line">
            <a:avLst/>
          </a:prstGeom>
          <a:ln cap="rnd" w="142875">
            <a:solidFill>
              <a:srgbClr val="8C7753"/>
            </a:solidFill>
            <a:prstDash val="solid"/>
            <a:headEnd type="none" len="sm" w="sm"/>
            <a:tailEnd type="none" len="sm" w="sm"/>
          </a:ln>
        </p:spPr>
      </p:sp>
      <p:sp>
        <p:nvSpPr>
          <p:cNvPr name="AutoShape 5" id="5"/>
          <p:cNvSpPr/>
          <p:nvPr/>
        </p:nvSpPr>
        <p:spPr>
          <a:xfrm rot="-4767600">
            <a:off x="-146837" y="533476"/>
            <a:ext cx="1511227" cy="0"/>
          </a:xfrm>
          <a:prstGeom prst="line">
            <a:avLst/>
          </a:prstGeom>
          <a:ln cap="rnd" w="142875">
            <a:solidFill>
              <a:srgbClr val="8C7753"/>
            </a:solidFill>
            <a:prstDash val="solid"/>
            <a:headEnd type="none" len="sm" w="sm"/>
            <a:tailEnd type="none" len="sm" w="sm"/>
          </a:ln>
        </p:spPr>
      </p:sp>
      <p:sp>
        <p:nvSpPr>
          <p:cNvPr name="TextBox 6" id="6"/>
          <p:cNvSpPr txBox="true"/>
          <p:nvPr/>
        </p:nvSpPr>
        <p:spPr>
          <a:xfrm rot="0">
            <a:off x="887587" y="1185034"/>
            <a:ext cx="5711990" cy="276225"/>
          </a:xfrm>
          <a:prstGeom prst="rect">
            <a:avLst/>
          </a:prstGeom>
        </p:spPr>
        <p:txBody>
          <a:bodyPr anchor="t" rtlCol="false" tIns="0" lIns="0" bIns="0" rIns="0">
            <a:spAutoFit/>
          </a:bodyPr>
          <a:lstStyle/>
          <a:p>
            <a:pPr algn="l">
              <a:lnSpc>
                <a:spcPts val="2234"/>
              </a:lnSpc>
            </a:pPr>
            <a:r>
              <a:rPr lang="en-US" b="true" sz="1862">
                <a:solidFill>
                  <a:srgbClr val="8C7753"/>
                </a:solidFill>
                <a:latin typeface="Open Sauce Bold"/>
                <a:ea typeface="Open Sauce Bold"/>
                <a:cs typeface="Open Sauce Bold"/>
                <a:sym typeface="Open Sauce Bold"/>
              </a:rPr>
              <a:t>AI-supported workflow + transparent monitoring</a:t>
            </a:r>
          </a:p>
        </p:txBody>
      </p:sp>
      <p:grpSp>
        <p:nvGrpSpPr>
          <p:cNvPr name="Group 7" id="7"/>
          <p:cNvGrpSpPr/>
          <p:nvPr/>
        </p:nvGrpSpPr>
        <p:grpSpPr>
          <a:xfrm rot="0">
            <a:off x="9980476" y="1783518"/>
            <a:ext cx="6923418" cy="4362050"/>
            <a:chOff x="0" y="0"/>
            <a:chExt cx="9231224" cy="5816067"/>
          </a:xfrm>
        </p:grpSpPr>
        <p:sp>
          <p:nvSpPr>
            <p:cNvPr name="Freeform 8" id="8"/>
            <p:cNvSpPr/>
            <p:nvPr/>
          </p:nvSpPr>
          <p:spPr>
            <a:xfrm flipH="false" flipV="false" rot="0">
              <a:off x="0" y="0"/>
              <a:ext cx="9231249" cy="5816092"/>
            </a:xfrm>
            <a:custGeom>
              <a:avLst/>
              <a:gdLst/>
              <a:ahLst/>
              <a:cxnLst/>
              <a:rect r="r" b="b" t="t" l="l"/>
              <a:pathLst>
                <a:path h="5816092" w="9231249">
                  <a:moveTo>
                    <a:pt x="0" y="969391"/>
                  </a:moveTo>
                  <a:cubicBezTo>
                    <a:pt x="0" y="433959"/>
                    <a:pt x="433959" y="0"/>
                    <a:pt x="969391" y="0"/>
                  </a:cubicBezTo>
                  <a:lnTo>
                    <a:pt x="8261858" y="0"/>
                  </a:lnTo>
                  <a:cubicBezTo>
                    <a:pt x="8797163" y="0"/>
                    <a:pt x="9231249" y="433959"/>
                    <a:pt x="9231249" y="969391"/>
                  </a:cubicBezTo>
                  <a:lnTo>
                    <a:pt x="9231249" y="4846701"/>
                  </a:lnTo>
                  <a:cubicBezTo>
                    <a:pt x="9231249" y="5382006"/>
                    <a:pt x="8797290" y="5816092"/>
                    <a:pt x="8261858" y="5816092"/>
                  </a:cubicBezTo>
                  <a:lnTo>
                    <a:pt x="969391" y="5816092"/>
                  </a:lnTo>
                  <a:cubicBezTo>
                    <a:pt x="433959" y="5816092"/>
                    <a:pt x="0" y="5382006"/>
                    <a:pt x="0" y="4846701"/>
                  </a:cubicBezTo>
                  <a:close/>
                </a:path>
              </a:pathLst>
            </a:custGeom>
            <a:solidFill>
              <a:srgbClr val="8C7753"/>
            </a:solidFill>
            <a:ln w="38130" cap="sq">
              <a:solidFill>
                <a:srgbClr val="6BFFFF"/>
              </a:solidFill>
              <a:prstDash val="solid"/>
              <a:miter/>
            </a:ln>
          </p:spPr>
        </p:sp>
      </p:grpSp>
      <p:sp>
        <p:nvSpPr>
          <p:cNvPr name="TextBox 9" id="9"/>
          <p:cNvSpPr txBox="true"/>
          <p:nvPr/>
        </p:nvSpPr>
        <p:spPr>
          <a:xfrm rot="0">
            <a:off x="12052628" y="2045065"/>
            <a:ext cx="2992636" cy="447675"/>
          </a:xfrm>
          <a:prstGeom prst="rect">
            <a:avLst/>
          </a:prstGeom>
        </p:spPr>
        <p:txBody>
          <a:bodyPr anchor="t" rtlCol="false" tIns="0" lIns="0" bIns="0" rIns="0">
            <a:spAutoFit/>
          </a:bodyPr>
          <a:lstStyle/>
          <a:p>
            <a:pPr algn="ctr">
              <a:lnSpc>
                <a:spcPts val="3557"/>
              </a:lnSpc>
            </a:pPr>
            <a:r>
              <a:rPr lang="en-US" sz="2964" spc="-177">
                <a:solidFill>
                  <a:srgbClr val="FFFFFF"/>
                </a:solidFill>
                <a:latin typeface="Open Sauce"/>
                <a:ea typeface="Open Sauce"/>
                <a:cs typeface="Open Sauce"/>
                <a:sym typeface="Open Sauce"/>
              </a:rPr>
              <a:t>POC WORKFLOW</a:t>
            </a:r>
          </a:p>
        </p:txBody>
      </p:sp>
      <p:sp>
        <p:nvSpPr>
          <p:cNvPr name="TextBox 10" id="10"/>
          <p:cNvSpPr txBox="true"/>
          <p:nvPr/>
        </p:nvSpPr>
        <p:spPr>
          <a:xfrm rot="0">
            <a:off x="10472099" y="2813371"/>
            <a:ext cx="6092685" cy="2857500"/>
          </a:xfrm>
          <a:prstGeom prst="rect">
            <a:avLst/>
          </a:prstGeom>
        </p:spPr>
        <p:txBody>
          <a:bodyPr anchor="t" rtlCol="false" tIns="0" lIns="0" bIns="0" rIns="0">
            <a:spAutoFit/>
          </a:bodyPr>
          <a:lstStyle/>
          <a:p>
            <a:pPr algn="ctr">
              <a:lnSpc>
                <a:spcPts val="3242"/>
              </a:lnSpc>
            </a:pPr>
            <a:r>
              <a:rPr lang="en-US" b="true" sz="2702">
                <a:solidFill>
                  <a:srgbClr val="FFFFFF"/>
                </a:solidFill>
                <a:latin typeface="Open Sauce Bold"/>
                <a:ea typeface="Open Sauce Bold"/>
                <a:cs typeface="Open Sauce Bold"/>
                <a:sym typeface="Open Sauce Bold"/>
              </a:rPr>
              <a:t>Crew Change Data</a:t>
            </a:r>
          </a:p>
          <a:p>
            <a:pPr algn="ctr">
              <a:lnSpc>
                <a:spcPts val="3242"/>
              </a:lnSpc>
            </a:pPr>
            <a:r>
              <a:rPr lang="en-US" b="true" sz="2702">
                <a:solidFill>
                  <a:srgbClr val="FFFFFF"/>
                </a:solidFill>
                <a:latin typeface="Open Sauce Bold"/>
                <a:ea typeface="Open Sauce Bold"/>
                <a:cs typeface="Open Sauce Bold"/>
                <a:sym typeface="Open Sauce Bold"/>
              </a:rPr>
              <a:t>        ↓</a:t>
            </a:r>
          </a:p>
          <a:p>
            <a:pPr algn="ctr">
              <a:lnSpc>
                <a:spcPts val="3242"/>
              </a:lnSpc>
            </a:pPr>
            <a:r>
              <a:rPr lang="en-US" b="true" sz="2702">
                <a:solidFill>
                  <a:srgbClr val="FFFFFF"/>
                </a:solidFill>
                <a:latin typeface="Open Sauce Bold"/>
                <a:ea typeface="Open Sauce Bold"/>
                <a:cs typeface="Open Sauce Bold"/>
                <a:sym typeface="Open Sauce Bold"/>
              </a:rPr>
              <a:t>AI Analysis</a:t>
            </a:r>
          </a:p>
          <a:p>
            <a:pPr algn="ctr">
              <a:lnSpc>
                <a:spcPts val="3242"/>
              </a:lnSpc>
            </a:pPr>
            <a:r>
              <a:rPr lang="en-US" b="true" sz="2702">
                <a:solidFill>
                  <a:srgbClr val="FFFFFF"/>
                </a:solidFill>
                <a:latin typeface="Open Sauce Bold"/>
                <a:ea typeface="Open Sauce Bold"/>
                <a:cs typeface="Open Sauce Bold"/>
                <a:sym typeface="Open Sauce Bold"/>
              </a:rPr>
              <a:t>        ↓</a:t>
            </a:r>
          </a:p>
          <a:p>
            <a:pPr algn="ctr">
              <a:lnSpc>
                <a:spcPts val="3242"/>
              </a:lnSpc>
            </a:pPr>
            <a:r>
              <a:rPr lang="en-US" b="true" sz="2702">
                <a:solidFill>
                  <a:srgbClr val="FFFFFF"/>
                </a:solidFill>
                <a:latin typeface="Open Sauce Bold"/>
                <a:ea typeface="Open Sauce Bold"/>
                <a:cs typeface="Open Sauce Bold"/>
                <a:sym typeface="Open Sauce Bold"/>
              </a:rPr>
              <a:t>Risk Briefing</a:t>
            </a:r>
          </a:p>
          <a:p>
            <a:pPr algn="ctr">
              <a:lnSpc>
                <a:spcPts val="3242"/>
              </a:lnSpc>
            </a:pPr>
            <a:r>
              <a:rPr lang="en-US" b="true" sz="2702">
                <a:solidFill>
                  <a:srgbClr val="FFFFFF"/>
                </a:solidFill>
                <a:latin typeface="Open Sauce Bold"/>
                <a:ea typeface="Open Sauce Bold"/>
                <a:cs typeface="Open Sauce Bold"/>
                <a:sym typeface="Open Sauce Bold"/>
              </a:rPr>
              <a:t>        ↓</a:t>
            </a:r>
          </a:p>
          <a:p>
            <a:pPr algn="ctr">
              <a:lnSpc>
                <a:spcPts val="3242"/>
              </a:lnSpc>
            </a:pPr>
            <a:r>
              <a:rPr lang="en-US" b="true" sz="2702">
                <a:solidFill>
                  <a:srgbClr val="FFFFFF"/>
                </a:solidFill>
                <a:latin typeface="Open Sauce Bold"/>
                <a:ea typeface="Open Sauce Bold"/>
                <a:cs typeface="Open Sauce Bold"/>
                <a:sym typeface="Open Sauce Bold"/>
              </a:rPr>
              <a:t>Human Review</a:t>
            </a:r>
          </a:p>
        </p:txBody>
      </p:sp>
      <p:grpSp>
        <p:nvGrpSpPr>
          <p:cNvPr name="Group 11" id="11"/>
          <p:cNvGrpSpPr/>
          <p:nvPr/>
        </p:nvGrpSpPr>
        <p:grpSpPr>
          <a:xfrm rot="0">
            <a:off x="9379925" y="6711801"/>
            <a:ext cx="7915742" cy="2421245"/>
            <a:chOff x="0" y="0"/>
            <a:chExt cx="10554322" cy="3228327"/>
          </a:xfrm>
        </p:grpSpPr>
        <p:sp>
          <p:nvSpPr>
            <p:cNvPr name="Freeform 12" id="12"/>
            <p:cNvSpPr/>
            <p:nvPr/>
          </p:nvSpPr>
          <p:spPr>
            <a:xfrm flipH="false" flipV="false" rot="0">
              <a:off x="0" y="0"/>
              <a:ext cx="10554335" cy="3228340"/>
            </a:xfrm>
            <a:custGeom>
              <a:avLst/>
              <a:gdLst/>
              <a:ahLst/>
              <a:cxnLst/>
              <a:rect r="r" b="b" t="t" l="l"/>
              <a:pathLst>
                <a:path h="3228340" w="10554335">
                  <a:moveTo>
                    <a:pt x="0" y="538099"/>
                  </a:moveTo>
                  <a:cubicBezTo>
                    <a:pt x="0" y="240919"/>
                    <a:pt x="240919" y="0"/>
                    <a:pt x="538099" y="0"/>
                  </a:cubicBezTo>
                  <a:lnTo>
                    <a:pt x="10016236" y="0"/>
                  </a:lnTo>
                  <a:cubicBezTo>
                    <a:pt x="10313416" y="0"/>
                    <a:pt x="10554335" y="240919"/>
                    <a:pt x="10554335" y="538099"/>
                  </a:cubicBezTo>
                  <a:lnTo>
                    <a:pt x="10554335" y="2690241"/>
                  </a:lnTo>
                  <a:cubicBezTo>
                    <a:pt x="10554335" y="2987421"/>
                    <a:pt x="10313416" y="3228340"/>
                    <a:pt x="10016236" y="3228340"/>
                  </a:cubicBezTo>
                  <a:lnTo>
                    <a:pt x="538099" y="3228340"/>
                  </a:lnTo>
                  <a:cubicBezTo>
                    <a:pt x="240919" y="3228340"/>
                    <a:pt x="0" y="2987421"/>
                    <a:pt x="0" y="2690241"/>
                  </a:cubicBezTo>
                  <a:close/>
                </a:path>
              </a:pathLst>
            </a:custGeom>
            <a:solidFill>
              <a:srgbClr val="8C7753"/>
            </a:solidFill>
            <a:ln w="19065" cap="sq">
              <a:solidFill>
                <a:srgbClr val="1ADCFF"/>
              </a:solidFill>
              <a:prstDash val="solid"/>
              <a:miter/>
            </a:ln>
          </p:spPr>
        </p:sp>
      </p:grpSp>
      <p:sp>
        <p:nvSpPr>
          <p:cNvPr name="TextBox 13" id="13"/>
          <p:cNvSpPr txBox="true"/>
          <p:nvPr/>
        </p:nvSpPr>
        <p:spPr>
          <a:xfrm rot="0">
            <a:off x="10574946" y="6963804"/>
            <a:ext cx="5516166" cy="447675"/>
          </a:xfrm>
          <a:prstGeom prst="rect">
            <a:avLst/>
          </a:prstGeom>
        </p:spPr>
        <p:txBody>
          <a:bodyPr anchor="t" rtlCol="false" tIns="0" lIns="0" bIns="0" rIns="0">
            <a:spAutoFit/>
          </a:bodyPr>
          <a:lstStyle/>
          <a:p>
            <a:pPr algn="ctr">
              <a:lnSpc>
                <a:spcPts val="3590"/>
              </a:lnSpc>
            </a:pPr>
            <a:r>
              <a:rPr lang="en-US" sz="2992" spc="-179">
                <a:solidFill>
                  <a:srgbClr val="FFFFFF"/>
                </a:solidFill>
                <a:latin typeface="Open Sauce"/>
                <a:ea typeface="Open Sauce"/>
                <a:cs typeface="Open Sauce"/>
                <a:sym typeface="Open Sauce"/>
              </a:rPr>
              <a:t>MONITORING &amp; TRANSPARENCY</a:t>
            </a:r>
          </a:p>
        </p:txBody>
      </p:sp>
      <p:sp>
        <p:nvSpPr>
          <p:cNvPr name="TextBox 14" id="14"/>
          <p:cNvSpPr txBox="true"/>
          <p:nvPr/>
        </p:nvSpPr>
        <p:spPr>
          <a:xfrm rot="0">
            <a:off x="9454029" y="7609151"/>
            <a:ext cx="7757998" cy="628650"/>
          </a:xfrm>
          <a:prstGeom prst="rect">
            <a:avLst/>
          </a:prstGeom>
        </p:spPr>
        <p:txBody>
          <a:bodyPr anchor="t" rtlCol="false" tIns="0" lIns="0" bIns="0" rIns="0">
            <a:spAutoFit/>
          </a:bodyPr>
          <a:lstStyle/>
          <a:p>
            <a:pPr algn="ctr">
              <a:lnSpc>
                <a:spcPts val="2491"/>
              </a:lnSpc>
            </a:pPr>
            <a:r>
              <a:rPr lang="en-US" b="true" sz="2075">
                <a:solidFill>
                  <a:srgbClr val="FFFFFF"/>
                </a:solidFill>
                <a:latin typeface="Open Sauce Bold"/>
                <a:ea typeface="Open Sauce Bold"/>
                <a:cs typeface="Open Sauce Bold"/>
                <a:sym typeface="Open Sauce Bold"/>
              </a:rPr>
              <a:t>Review inputs and outputs • Monitor system behaviour • Investigate unexpected results</a:t>
            </a:r>
          </a:p>
        </p:txBody>
      </p:sp>
      <p:sp>
        <p:nvSpPr>
          <p:cNvPr name="TextBox 15" id="15"/>
          <p:cNvSpPr txBox="true"/>
          <p:nvPr/>
        </p:nvSpPr>
        <p:spPr>
          <a:xfrm rot="0">
            <a:off x="13082264" y="9764239"/>
            <a:ext cx="4327874" cy="161925"/>
          </a:xfrm>
          <a:prstGeom prst="rect">
            <a:avLst/>
          </a:prstGeom>
        </p:spPr>
        <p:txBody>
          <a:bodyPr anchor="t" rtlCol="false" tIns="0" lIns="0" bIns="0" rIns="0">
            <a:spAutoFit/>
          </a:bodyPr>
          <a:lstStyle/>
          <a:p>
            <a:pPr algn="r">
              <a:lnSpc>
                <a:spcPts val="1297"/>
              </a:lnSpc>
            </a:pPr>
            <a:r>
              <a:rPr lang="en-US" sz="1080">
                <a:solidFill>
                  <a:srgbClr val="8C7753"/>
                </a:solidFill>
                <a:latin typeface="Open Sauce"/>
                <a:ea typeface="Open Sauce"/>
                <a:cs typeface="Open Sauce"/>
                <a:sym typeface="Open Sauce"/>
              </a:rPr>
              <a:t>Crew Change Risk Copilot  |  Round 1 Presentation  |  4</a:t>
            </a:r>
          </a:p>
        </p:txBody>
      </p:sp>
      <p:sp>
        <p:nvSpPr>
          <p:cNvPr name="TextBox 16" id="16"/>
          <p:cNvSpPr txBox="true"/>
          <p:nvPr/>
        </p:nvSpPr>
        <p:spPr>
          <a:xfrm rot="0">
            <a:off x="846411" y="192510"/>
            <a:ext cx="8742350" cy="581025"/>
          </a:xfrm>
          <a:prstGeom prst="rect">
            <a:avLst/>
          </a:prstGeom>
        </p:spPr>
        <p:txBody>
          <a:bodyPr anchor="t" rtlCol="false" tIns="0" lIns="0" bIns="0" rIns="0">
            <a:spAutoFit/>
          </a:bodyPr>
          <a:lstStyle/>
          <a:p>
            <a:pPr algn="l">
              <a:lnSpc>
                <a:spcPts val="4683"/>
              </a:lnSpc>
            </a:pPr>
            <a:r>
              <a:rPr lang="en-US" sz="3903" spc="-234">
                <a:solidFill>
                  <a:srgbClr val="331B0D"/>
                </a:solidFill>
                <a:latin typeface="Open Sauce"/>
                <a:ea typeface="Open Sauce"/>
                <a:cs typeface="Open Sauce"/>
                <a:sym typeface="Open Sauce"/>
              </a:rPr>
              <a:t>From Concept to Proof of Concept</a:t>
            </a:r>
          </a:p>
        </p:txBody>
      </p:sp>
      <p:grpSp>
        <p:nvGrpSpPr>
          <p:cNvPr name="Group 17" id="17"/>
          <p:cNvGrpSpPr/>
          <p:nvPr/>
        </p:nvGrpSpPr>
        <p:grpSpPr>
          <a:xfrm rot="0">
            <a:off x="1758734" y="2066639"/>
            <a:ext cx="7477249" cy="3844433"/>
            <a:chOff x="0" y="0"/>
            <a:chExt cx="9969665" cy="5125910"/>
          </a:xfrm>
        </p:grpSpPr>
        <p:sp>
          <p:nvSpPr>
            <p:cNvPr name="Freeform 18" id="18" descr="n8n workflow Screenshot 2026-09-01 105412"/>
            <p:cNvSpPr/>
            <p:nvPr/>
          </p:nvSpPr>
          <p:spPr>
            <a:xfrm flipH="false" flipV="false" rot="0">
              <a:off x="0" y="0"/>
              <a:ext cx="9969627" cy="5125974"/>
            </a:xfrm>
            <a:custGeom>
              <a:avLst/>
              <a:gdLst/>
              <a:ahLst/>
              <a:cxnLst/>
              <a:rect r="r" b="b" t="t" l="l"/>
              <a:pathLst>
                <a:path h="5125974" w="9969627">
                  <a:moveTo>
                    <a:pt x="0" y="0"/>
                  </a:moveTo>
                  <a:lnTo>
                    <a:pt x="9969627" y="0"/>
                  </a:lnTo>
                  <a:lnTo>
                    <a:pt x="9969627" y="5125974"/>
                  </a:lnTo>
                  <a:lnTo>
                    <a:pt x="0" y="5125974"/>
                  </a:lnTo>
                  <a:lnTo>
                    <a:pt x="0" y="0"/>
                  </a:lnTo>
                  <a:close/>
                </a:path>
              </a:pathLst>
            </a:custGeom>
            <a:blipFill>
              <a:blip r:embed="rId3"/>
              <a:stretch>
                <a:fillRect l="0" t="0" r="0" b="-5436"/>
              </a:stretch>
            </a:blipFill>
          </p:spPr>
        </p:sp>
      </p:grpSp>
      <p:grpSp>
        <p:nvGrpSpPr>
          <p:cNvPr name="Group 19" id="19"/>
          <p:cNvGrpSpPr/>
          <p:nvPr/>
        </p:nvGrpSpPr>
        <p:grpSpPr>
          <a:xfrm rot="0">
            <a:off x="1199178" y="7254192"/>
            <a:ext cx="7736538" cy="1397460"/>
            <a:chOff x="0" y="0"/>
            <a:chExt cx="10315384" cy="1863280"/>
          </a:xfrm>
        </p:grpSpPr>
        <p:sp>
          <p:nvSpPr>
            <p:cNvPr name="Freeform 20" id="20" descr="LS Screenshot 1 2026-09-01 141103"/>
            <p:cNvSpPr/>
            <p:nvPr/>
          </p:nvSpPr>
          <p:spPr>
            <a:xfrm flipH="false" flipV="false" rot="0">
              <a:off x="0" y="0"/>
              <a:ext cx="10315321" cy="1863217"/>
            </a:xfrm>
            <a:custGeom>
              <a:avLst/>
              <a:gdLst/>
              <a:ahLst/>
              <a:cxnLst/>
              <a:rect r="r" b="b" t="t" l="l"/>
              <a:pathLst>
                <a:path h="1863217" w="10315321">
                  <a:moveTo>
                    <a:pt x="0" y="0"/>
                  </a:moveTo>
                  <a:lnTo>
                    <a:pt x="10315321" y="0"/>
                  </a:lnTo>
                  <a:lnTo>
                    <a:pt x="10315321" y="1863217"/>
                  </a:lnTo>
                  <a:lnTo>
                    <a:pt x="0" y="1863217"/>
                  </a:lnTo>
                  <a:lnTo>
                    <a:pt x="0" y="0"/>
                  </a:lnTo>
                  <a:close/>
                </a:path>
              </a:pathLst>
            </a:custGeom>
            <a:blipFill>
              <a:blip r:embed="rId4"/>
              <a:stretch>
                <a:fillRect l="-2512" t="0" r="-12269" b="-14126"/>
              </a:stretch>
            </a:blipFill>
          </p:spPr>
        </p:sp>
      </p:grpSp>
      <p:grpSp>
        <p:nvGrpSpPr>
          <p:cNvPr name="Group 21" id="21"/>
          <p:cNvGrpSpPr/>
          <p:nvPr/>
        </p:nvGrpSpPr>
        <p:grpSpPr>
          <a:xfrm rot="0">
            <a:off x="1285923" y="1783518"/>
            <a:ext cx="8379971" cy="4362050"/>
            <a:chOff x="0" y="0"/>
            <a:chExt cx="11173295" cy="5816067"/>
          </a:xfrm>
        </p:grpSpPr>
        <p:sp>
          <p:nvSpPr>
            <p:cNvPr name="Freeform 22" id="22"/>
            <p:cNvSpPr/>
            <p:nvPr/>
          </p:nvSpPr>
          <p:spPr>
            <a:xfrm flipH="false" flipV="false" rot="0">
              <a:off x="0" y="0"/>
              <a:ext cx="11173333" cy="5816092"/>
            </a:xfrm>
            <a:custGeom>
              <a:avLst/>
              <a:gdLst/>
              <a:ahLst/>
              <a:cxnLst/>
              <a:rect r="r" b="b" t="t" l="l"/>
              <a:pathLst>
                <a:path h="5816092" w="11173333">
                  <a:moveTo>
                    <a:pt x="0" y="969391"/>
                  </a:moveTo>
                  <a:cubicBezTo>
                    <a:pt x="0" y="433959"/>
                    <a:pt x="433959" y="0"/>
                    <a:pt x="969391" y="0"/>
                  </a:cubicBezTo>
                  <a:lnTo>
                    <a:pt x="10203942" y="0"/>
                  </a:lnTo>
                  <a:cubicBezTo>
                    <a:pt x="10739248" y="0"/>
                    <a:pt x="11173333" y="433959"/>
                    <a:pt x="11173333" y="969391"/>
                  </a:cubicBezTo>
                  <a:lnTo>
                    <a:pt x="11173333" y="4846701"/>
                  </a:lnTo>
                  <a:cubicBezTo>
                    <a:pt x="11173333" y="5382006"/>
                    <a:pt x="10739375" y="5816092"/>
                    <a:pt x="10203942" y="5816092"/>
                  </a:cubicBezTo>
                  <a:lnTo>
                    <a:pt x="969391" y="5816092"/>
                  </a:lnTo>
                  <a:cubicBezTo>
                    <a:pt x="433959" y="5816092"/>
                    <a:pt x="0" y="5382006"/>
                    <a:pt x="0" y="4846701"/>
                  </a:cubicBezTo>
                  <a:close/>
                </a:path>
              </a:pathLst>
            </a:custGeom>
            <a:blipFill>
              <a:blip r:embed="rId5">
                <a:alphaModFix amt="0"/>
              </a:blip>
              <a:stretch>
                <a:fillRect l="-16786" t="0" r="-16785" b="0"/>
              </a:stretch>
            </a:blipFill>
            <a:ln w="38130" cap="sq">
              <a:solidFill>
                <a:srgbClr val="6BFFFF"/>
              </a:solidFill>
              <a:prstDash val="solid"/>
              <a:miter/>
            </a:ln>
          </p:spPr>
        </p:sp>
      </p:grpSp>
      <p:grpSp>
        <p:nvGrpSpPr>
          <p:cNvPr name="Group 23" id="23"/>
          <p:cNvGrpSpPr/>
          <p:nvPr/>
        </p:nvGrpSpPr>
        <p:grpSpPr>
          <a:xfrm rot="0">
            <a:off x="974217" y="6682245"/>
            <a:ext cx="8187423" cy="2504170"/>
            <a:chOff x="0" y="0"/>
            <a:chExt cx="10916564" cy="3338893"/>
          </a:xfrm>
        </p:grpSpPr>
        <p:sp>
          <p:nvSpPr>
            <p:cNvPr name="Freeform 24" id="24"/>
            <p:cNvSpPr/>
            <p:nvPr/>
          </p:nvSpPr>
          <p:spPr>
            <a:xfrm flipH="false" flipV="false" rot="0">
              <a:off x="0" y="0"/>
              <a:ext cx="10916539" cy="3338957"/>
            </a:xfrm>
            <a:custGeom>
              <a:avLst/>
              <a:gdLst/>
              <a:ahLst/>
              <a:cxnLst/>
              <a:rect r="r" b="b" t="t" l="l"/>
              <a:pathLst>
                <a:path h="3338957" w="10916539">
                  <a:moveTo>
                    <a:pt x="0" y="556514"/>
                  </a:moveTo>
                  <a:cubicBezTo>
                    <a:pt x="0" y="249174"/>
                    <a:pt x="249174" y="0"/>
                    <a:pt x="556514" y="0"/>
                  </a:cubicBezTo>
                  <a:lnTo>
                    <a:pt x="10360025" y="0"/>
                  </a:lnTo>
                  <a:cubicBezTo>
                    <a:pt x="10667365" y="0"/>
                    <a:pt x="10916539" y="249174"/>
                    <a:pt x="10916539" y="556514"/>
                  </a:cubicBezTo>
                  <a:lnTo>
                    <a:pt x="10916539" y="2782443"/>
                  </a:lnTo>
                  <a:cubicBezTo>
                    <a:pt x="10916539" y="3089783"/>
                    <a:pt x="10667365" y="3338957"/>
                    <a:pt x="10360025" y="3338957"/>
                  </a:cubicBezTo>
                  <a:lnTo>
                    <a:pt x="556514" y="3338957"/>
                  </a:lnTo>
                  <a:cubicBezTo>
                    <a:pt x="249174" y="3338957"/>
                    <a:pt x="0" y="3089783"/>
                    <a:pt x="0" y="2782443"/>
                  </a:cubicBezTo>
                  <a:close/>
                </a:path>
              </a:pathLst>
            </a:custGeom>
            <a:blipFill>
              <a:blip r:embed="rId5">
                <a:alphaModFix amt="0"/>
              </a:blip>
              <a:stretch>
                <a:fillRect l="0" t="-13706" r="0" b="-13704"/>
              </a:stretch>
            </a:blipFill>
            <a:ln w="38130" cap="sq">
              <a:solidFill>
                <a:srgbClr val="6BFFFF"/>
              </a:solidFill>
              <a:prstDash val="solid"/>
              <a:miter/>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grpSp>
        <p:nvGrpSpPr>
          <p:cNvPr name="Group 2" id="2"/>
          <p:cNvGrpSpPr/>
          <p:nvPr/>
        </p:nvGrpSpPr>
        <p:grpSpPr>
          <a:xfrm rot="0">
            <a:off x="-9535" y="-92192"/>
            <a:ext cx="18319461" cy="10395547"/>
            <a:chOff x="0" y="0"/>
            <a:chExt cx="24425948" cy="13860729"/>
          </a:xfrm>
        </p:grpSpPr>
        <p:sp>
          <p:nvSpPr>
            <p:cNvPr name="Freeform 3" id="3"/>
            <p:cNvSpPr/>
            <p:nvPr/>
          </p:nvSpPr>
          <p:spPr>
            <a:xfrm flipH="false" flipV="false" rot="0">
              <a:off x="0" y="0"/>
              <a:ext cx="24425911" cy="13860780"/>
            </a:xfrm>
            <a:custGeom>
              <a:avLst/>
              <a:gdLst/>
              <a:ahLst/>
              <a:cxnLst/>
              <a:rect r="r" b="b" t="t" l="l"/>
              <a:pathLst>
                <a:path h="13860780" w="24425911">
                  <a:moveTo>
                    <a:pt x="0" y="0"/>
                  </a:moveTo>
                  <a:lnTo>
                    <a:pt x="24425911" y="0"/>
                  </a:lnTo>
                  <a:lnTo>
                    <a:pt x="24425911" y="13860780"/>
                  </a:lnTo>
                  <a:lnTo>
                    <a:pt x="0" y="13860780"/>
                  </a:lnTo>
                  <a:close/>
                </a:path>
              </a:pathLst>
            </a:custGeom>
            <a:solidFill>
              <a:srgbClr val="FAF7F0"/>
            </a:solidFill>
            <a:ln w="19065" cap="sq">
              <a:solidFill>
                <a:srgbClr val="DCD6CA"/>
              </a:solidFill>
              <a:prstDash val="solid"/>
              <a:miter/>
            </a:ln>
          </p:spPr>
        </p:sp>
      </p:grpSp>
      <p:sp>
        <p:nvSpPr>
          <p:cNvPr name="AutoShape 4" id="4"/>
          <p:cNvSpPr/>
          <p:nvPr/>
        </p:nvSpPr>
        <p:spPr>
          <a:xfrm rot="-4647840">
            <a:off x="239811" y="412213"/>
            <a:ext cx="1273578" cy="0"/>
          </a:xfrm>
          <a:prstGeom prst="line">
            <a:avLst/>
          </a:prstGeom>
          <a:ln cap="rnd" w="142875">
            <a:solidFill>
              <a:srgbClr val="8C7753"/>
            </a:solidFill>
            <a:prstDash val="solid"/>
            <a:headEnd type="none" len="sm" w="sm"/>
            <a:tailEnd type="none" len="sm" w="sm"/>
          </a:ln>
        </p:spPr>
      </p:sp>
      <p:sp>
        <p:nvSpPr>
          <p:cNvPr name="AutoShape 5" id="5"/>
          <p:cNvSpPr/>
          <p:nvPr/>
        </p:nvSpPr>
        <p:spPr>
          <a:xfrm rot="-4767600">
            <a:off x="-146837" y="533476"/>
            <a:ext cx="1511227" cy="0"/>
          </a:xfrm>
          <a:prstGeom prst="line">
            <a:avLst/>
          </a:prstGeom>
          <a:ln cap="rnd" w="142875">
            <a:solidFill>
              <a:srgbClr val="8C7753"/>
            </a:solidFill>
            <a:prstDash val="solid"/>
            <a:headEnd type="none" len="sm" w="sm"/>
            <a:tailEnd type="none" len="sm" w="sm"/>
          </a:ln>
        </p:spPr>
      </p:sp>
      <p:sp>
        <p:nvSpPr>
          <p:cNvPr name="TextBox 6" id="6"/>
          <p:cNvSpPr txBox="true"/>
          <p:nvPr/>
        </p:nvSpPr>
        <p:spPr>
          <a:xfrm rot="0">
            <a:off x="887587" y="1185034"/>
            <a:ext cx="8482117" cy="285750"/>
          </a:xfrm>
          <a:prstGeom prst="rect">
            <a:avLst/>
          </a:prstGeom>
        </p:spPr>
        <p:txBody>
          <a:bodyPr anchor="t" rtlCol="false" tIns="0" lIns="0" bIns="0" rIns="0">
            <a:spAutoFit/>
          </a:bodyPr>
          <a:lstStyle/>
          <a:p>
            <a:pPr algn="l">
              <a:lnSpc>
                <a:spcPts val="2301"/>
              </a:lnSpc>
            </a:pPr>
            <a:r>
              <a:rPr lang="en-US" sz="1917">
                <a:solidFill>
                  <a:srgbClr val="331B0D"/>
                </a:solidFill>
                <a:latin typeface="Open Sauce"/>
                <a:ea typeface="Open Sauce"/>
                <a:cs typeface="Open Sauce"/>
                <a:sym typeface="Open Sauce"/>
              </a:rPr>
              <a:t>A lean, controlled approach to validating the Crew Change Risk Copilot</a:t>
            </a:r>
          </a:p>
        </p:txBody>
      </p:sp>
      <p:grpSp>
        <p:nvGrpSpPr>
          <p:cNvPr name="Group 7" id="7"/>
          <p:cNvGrpSpPr/>
          <p:nvPr/>
        </p:nvGrpSpPr>
        <p:grpSpPr>
          <a:xfrm rot="0">
            <a:off x="941803" y="2108578"/>
            <a:ext cx="5322922" cy="5048383"/>
            <a:chOff x="0" y="0"/>
            <a:chExt cx="7097230" cy="6731178"/>
          </a:xfrm>
        </p:grpSpPr>
        <p:sp>
          <p:nvSpPr>
            <p:cNvPr name="Freeform 8" id="8"/>
            <p:cNvSpPr/>
            <p:nvPr/>
          </p:nvSpPr>
          <p:spPr>
            <a:xfrm flipH="false" flipV="false" rot="0">
              <a:off x="0" y="0"/>
              <a:ext cx="7097268" cy="6731254"/>
            </a:xfrm>
            <a:custGeom>
              <a:avLst/>
              <a:gdLst/>
              <a:ahLst/>
              <a:cxnLst/>
              <a:rect r="r" b="b" t="t" l="l"/>
              <a:pathLst>
                <a:path h="6731254" w="7097268">
                  <a:moveTo>
                    <a:pt x="0" y="1121918"/>
                  </a:moveTo>
                  <a:cubicBezTo>
                    <a:pt x="0" y="502285"/>
                    <a:pt x="502285" y="0"/>
                    <a:pt x="1121918" y="0"/>
                  </a:cubicBezTo>
                  <a:lnTo>
                    <a:pt x="5975350" y="0"/>
                  </a:lnTo>
                  <a:cubicBezTo>
                    <a:pt x="6594983" y="0"/>
                    <a:pt x="7097268" y="502285"/>
                    <a:pt x="7097268" y="1121918"/>
                  </a:cubicBezTo>
                  <a:lnTo>
                    <a:pt x="7097268" y="5609336"/>
                  </a:lnTo>
                  <a:cubicBezTo>
                    <a:pt x="7097268" y="6228969"/>
                    <a:pt x="6594983" y="6731254"/>
                    <a:pt x="5975350" y="6731254"/>
                  </a:cubicBezTo>
                  <a:lnTo>
                    <a:pt x="1121918" y="6731254"/>
                  </a:lnTo>
                  <a:cubicBezTo>
                    <a:pt x="502285" y="6731127"/>
                    <a:pt x="0" y="6228842"/>
                    <a:pt x="0" y="5609336"/>
                  </a:cubicBezTo>
                  <a:close/>
                </a:path>
              </a:pathLst>
            </a:custGeom>
            <a:solidFill>
              <a:srgbClr val="8C7753"/>
            </a:solidFill>
            <a:ln w="38130" cap="sq">
              <a:solidFill>
                <a:srgbClr val="FFD966"/>
              </a:solidFill>
              <a:prstDash val="solid"/>
              <a:miter/>
            </a:ln>
          </p:spPr>
        </p:sp>
      </p:grpSp>
      <p:sp>
        <p:nvSpPr>
          <p:cNvPr name="TextBox 9" id="9"/>
          <p:cNvSpPr txBox="true"/>
          <p:nvPr/>
        </p:nvSpPr>
        <p:spPr>
          <a:xfrm rot="0">
            <a:off x="2486756" y="2370115"/>
            <a:ext cx="2233017" cy="447675"/>
          </a:xfrm>
          <a:prstGeom prst="rect">
            <a:avLst/>
          </a:prstGeom>
        </p:spPr>
        <p:txBody>
          <a:bodyPr anchor="t" rtlCol="false" tIns="0" lIns="0" bIns="0" rIns="0">
            <a:spAutoFit/>
          </a:bodyPr>
          <a:lstStyle/>
          <a:p>
            <a:pPr algn="ctr">
              <a:lnSpc>
                <a:spcPts val="3590"/>
              </a:lnSpc>
            </a:pPr>
            <a:r>
              <a:rPr lang="en-US" sz="2992" spc="-179">
                <a:solidFill>
                  <a:srgbClr val="FFFFFF"/>
                </a:solidFill>
                <a:latin typeface="Open Sauce"/>
                <a:ea typeface="Open Sauce"/>
                <a:cs typeface="Open Sauce"/>
                <a:sym typeface="Open Sauce"/>
              </a:rPr>
              <a:t>INVESTMENT</a:t>
            </a:r>
          </a:p>
        </p:txBody>
      </p:sp>
      <p:sp>
        <p:nvSpPr>
          <p:cNvPr name="TextBox 10" id="10"/>
          <p:cNvSpPr txBox="true"/>
          <p:nvPr/>
        </p:nvSpPr>
        <p:spPr>
          <a:xfrm rot="0">
            <a:off x="1281103" y="3015272"/>
            <a:ext cx="4644323" cy="1828800"/>
          </a:xfrm>
          <a:prstGeom prst="rect">
            <a:avLst/>
          </a:prstGeom>
        </p:spPr>
        <p:txBody>
          <a:bodyPr anchor="t" rtlCol="false" tIns="0" lIns="0" bIns="0" rIns="0">
            <a:spAutoFit/>
          </a:bodyPr>
          <a:lstStyle/>
          <a:p>
            <a:pPr algn="ctr">
              <a:lnSpc>
                <a:spcPts val="2422"/>
              </a:lnSpc>
            </a:pPr>
            <a:r>
              <a:rPr lang="en-US" b="true" sz="2018">
                <a:solidFill>
                  <a:srgbClr val="FFFFFF"/>
                </a:solidFill>
                <a:latin typeface="Open Sauce Bold"/>
                <a:ea typeface="Open Sauce Bold"/>
                <a:cs typeface="Open Sauce Bold"/>
                <a:sym typeface="Open Sauce Bold"/>
              </a:rPr>
              <a:t>≈ €31,000</a:t>
            </a:r>
          </a:p>
          <a:p>
            <a:pPr algn="ctr">
              <a:lnSpc>
                <a:spcPts val="2422"/>
              </a:lnSpc>
            </a:pPr>
          </a:p>
          <a:p>
            <a:pPr algn="ctr">
              <a:lnSpc>
                <a:spcPts val="2422"/>
              </a:lnSpc>
            </a:pPr>
            <a:r>
              <a:rPr lang="en-US" b="true" sz="2018">
                <a:solidFill>
                  <a:srgbClr val="FFFFFF"/>
                </a:solidFill>
                <a:latin typeface="Open Sauce Bold"/>
                <a:ea typeface="Open Sauce Bold"/>
                <a:cs typeface="Open Sauce Bold"/>
                <a:sym typeface="Open Sauce Bold"/>
              </a:rPr>
              <a:t>Indicative pilot investment</a:t>
            </a:r>
          </a:p>
          <a:p>
            <a:pPr algn="ctr">
              <a:lnSpc>
                <a:spcPts val="2422"/>
              </a:lnSpc>
            </a:pPr>
          </a:p>
          <a:p>
            <a:pPr algn="ctr">
              <a:lnSpc>
                <a:spcPts val="2422"/>
              </a:lnSpc>
            </a:pPr>
            <a:r>
              <a:rPr lang="en-US" b="true" sz="2018">
                <a:solidFill>
                  <a:srgbClr val="FFFFFF"/>
                </a:solidFill>
                <a:latin typeface="Open Sauce Bold"/>
                <a:ea typeface="Open Sauce Bold"/>
                <a:cs typeface="Open Sauce Bold"/>
                <a:sym typeface="Open Sauce Bold"/>
              </a:rPr>
              <a:t>Based on a focused MVP / controlled pilot</a:t>
            </a:r>
          </a:p>
        </p:txBody>
      </p:sp>
      <p:grpSp>
        <p:nvGrpSpPr>
          <p:cNvPr name="Group 11" id="11"/>
          <p:cNvGrpSpPr/>
          <p:nvPr/>
        </p:nvGrpSpPr>
        <p:grpSpPr>
          <a:xfrm rot="0">
            <a:off x="6510661" y="2118112"/>
            <a:ext cx="5303853" cy="5029324"/>
            <a:chOff x="0" y="0"/>
            <a:chExt cx="7071804" cy="6705765"/>
          </a:xfrm>
        </p:grpSpPr>
        <p:sp>
          <p:nvSpPr>
            <p:cNvPr name="Freeform 12" id="12"/>
            <p:cNvSpPr/>
            <p:nvPr/>
          </p:nvSpPr>
          <p:spPr>
            <a:xfrm flipH="false" flipV="false" rot="0">
              <a:off x="0" y="0"/>
              <a:ext cx="7071741" cy="6705600"/>
            </a:xfrm>
            <a:custGeom>
              <a:avLst/>
              <a:gdLst/>
              <a:ahLst/>
              <a:cxnLst/>
              <a:rect r="r" b="b" t="t" l="l"/>
              <a:pathLst>
                <a:path h="6705600" w="7071741">
                  <a:moveTo>
                    <a:pt x="0" y="1117600"/>
                  </a:moveTo>
                  <a:cubicBezTo>
                    <a:pt x="0" y="500380"/>
                    <a:pt x="500380" y="0"/>
                    <a:pt x="1117600" y="0"/>
                  </a:cubicBezTo>
                  <a:lnTo>
                    <a:pt x="5954141" y="0"/>
                  </a:lnTo>
                  <a:cubicBezTo>
                    <a:pt x="6571361" y="0"/>
                    <a:pt x="7071741" y="500380"/>
                    <a:pt x="7071741" y="1117600"/>
                  </a:cubicBezTo>
                  <a:lnTo>
                    <a:pt x="7071741" y="5588000"/>
                  </a:lnTo>
                  <a:cubicBezTo>
                    <a:pt x="7071741" y="6205220"/>
                    <a:pt x="6571361" y="6705600"/>
                    <a:pt x="5954141" y="6705600"/>
                  </a:cubicBezTo>
                  <a:lnTo>
                    <a:pt x="1117600" y="6705600"/>
                  </a:lnTo>
                  <a:cubicBezTo>
                    <a:pt x="500380" y="6705600"/>
                    <a:pt x="0" y="6205220"/>
                    <a:pt x="0" y="5588000"/>
                  </a:cubicBezTo>
                  <a:close/>
                </a:path>
              </a:pathLst>
            </a:custGeom>
            <a:solidFill>
              <a:srgbClr val="8C7753"/>
            </a:solidFill>
            <a:ln w="19065" cap="sq">
              <a:solidFill>
                <a:srgbClr val="D2DAE2"/>
              </a:solidFill>
              <a:prstDash val="solid"/>
              <a:miter/>
            </a:ln>
          </p:spPr>
        </p:sp>
      </p:grpSp>
      <p:sp>
        <p:nvSpPr>
          <p:cNvPr name="TextBox 13" id="13"/>
          <p:cNvSpPr txBox="true"/>
          <p:nvPr/>
        </p:nvSpPr>
        <p:spPr>
          <a:xfrm rot="0">
            <a:off x="8394114" y="2370115"/>
            <a:ext cx="1536948" cy="447675"/>
          </a:xfrm>
          <a:prstGeom prst="rect">
            <a:avLst/>
          </a:prstGeom>
        </p:spPr>
        <p:txBody>
          <a:bodyPr anchor="t" rtlCol="false" tIns="0" lIns="0" bIns="0" rIns="0">
            <a:spAutoFit/>
          </a:bodyPr>
          <a:lstStyle/>
          <a:p>
            <a:pPr algn="ctr">
              <a:lnSpc>
                <a:spcPts val="3590"/>
              </a:lnSpc>
            </a:pPr>
            <a:r>
              <a:rPr lang="en-US" sz="2992" spc="-179">
                <a:solidFill>
                  <a:srgbClr val="FFFFFF"/>
                </a:solidFill>
                <a:latin typeface="Open Sauce"/>
                <a:ea typeface="Open Sauce"/>
                <a:cs typeface="Open Sauce"/>
                <a:sym typeface="Open Sauce"/>
              </a:rPr>
              <a:t>TIMELINE</a:t>
            </a:r>
          </a:p>
        </p:txBody>
      </p:sp>
      <p:sp>
        <p:nvSpPr>
          <p:cNvPr name="TextBox 14" id="14"/>
          <p:cNvSpPr txBox="true"/>
          <p:nvPr/>
        </p:nvSpPr>
        <p:spPr>
          <a:xfrm rot="0">
            <a:off x="6840426" y="3015272"/>
            <a:ext cx="4644323" cy="2362200"/>
          </a:xfrm>
          <a:prstGeom prst="rect">
            <a:avLst/>
          </a:prstGeom>
        </p:spPr>
        <p:txBody>
          <a:bodyPr anchor="t" rtlCol="false" tIns="0" lIns="0" bIns="0" rIns="0">
            <a:spAutoFit/>
          </a:bodyPr>
          <a:lstStyle/>
          <a:p>
            <a:pPr algn="ctr">
              <a:lnSpc>
                <a:spcPts val="2399"/>
              </a:lnSpc>
            </a:pPr>
            <a:r>
              <a:rPr lang="en-US" b="true" sz="1999">
                <a:solidFill>
                  <a:srgbClr val="FFFFFF"/>
                </a:solidFill>
                <a:latin typeface="Open Sauce Bold"/>
                <a:ea typeface="Open Sauce Bold"/>
                <a:cs typeface="Open Sauce Bold"/>
                <a:sym typeface="Open Sauce Bold"/>
              </a:rPr>
              <a:t>12 WEEKS</a:t>
            </a:r>
          </a:p>
          <a:p>
            <a:pPr algn="ctr">
              <a:lnSpc>
                <a:spcPts val="2399"/>
              </a:lnSpc>
            </a:pPr>
          </a:p>
          <a:p>
            <a:pPr algn="ctr">
              <a:lnSpc>
                <a:spcPts val="2399"/>
              </a:lnSpc>
            </a:pPr>
            <a:r>
              <a:rPr lang="en-US" b="true" sz="1999">
                <a:solidFill>
                  <a:srgbClr val="FFFFFF"/>
                </a:solidFill>
                <a:latin typeface="Open Sauce Bold"/>
                <a:ea typeface="Open Sauce Bold"/>
                <a:cs typeface="Open Sauce Bold"/>
                <a:sym typeface="Open Sauce Bold"/>
              </a:rPr>
              <a:t>Discovery &amp; Planning</a:t>
            </a:r>
          </a:p>
          <a:p>
            <a:pPr algn="ctr">
              <a:lnSpc>
                <a:spcPts val="2399"/>
              </a:lnSpc>
            </a:pPr>
            <a:r>
              <a:rPr lang="en-US" b="true" sz="1999">
                <a:solidFill>
                  <a:srgbClr val="FFFFFF"/>
                </a:solidFill>
                <a:latin typeface="Open Sauce Bold"/>
                <a:ea typeface="Open Sauce Bold"/>
                <a:cs typeface="Open Sauce Bold"/>
                <a:sym typeface="Open Sauce Bold"/>
              </a:rPr>
              <a:t>Solution Design</a:t>
            </a:r>
          </a:p>
          <a:p>
            <a:pPr algn="ctr">
              <a:lnSpc>
                <a:spcPts val="2399"/>
              </a:lnSpc>
            </a:pPr>
            <a:r>
              <a:rPr lang="en-US" b="true" sz="1999">
                <a:solidFill>
                  <a:srgbClr val="FFFFFF"/>
                </a:solidFill>
                <a:latin typeface="Open Sauce Bold"/>
                <a:ea typeface="Open Sauce Bold"/>
                <a:cs typeface="Open Sauce Bold"/>
                <a:sym typeface="Open Sauce Bold"/>
              </a:rPr>
              <a:t>MVP Development</a:t>
            </a:r>
          </a:p>
          <a:p>
            <a:pPr algn="ctr">
              <a:lnSpc>
                <a:spcPts val="2399"/>
              </a:lnSpc>
            </a:pPr>
            <a:r>
              <a:rPr lang="en-US" b="true" sz="1999">
                <a:solidFill>
                  <a:srgbClr val="FFFFFF"/>
                </a:solidFill>
                <a:latin typeface="Open Sauce Bold"/>
                <a:ea typeface="Open Sauce Bold"/>
                <a:cs typeface="Open Sauce Bold"/>
                <a:sym typeface="Open Sauce Bold"/>
              </a:rPr>
              <a:t>UI &amp; Integration</a:t>
            </a:r>
          </a:p>
          <a:p>
            <a:pPr algn="ctr">
              <a:lnSpc>
                <a:spcPts val="2399"/>
              </a:lnSpc>
            </a:pPr>
            <a:r>
              <a:rPr lang="en-US" b="true" sz="1999">
                <a:solidFill>
                  <a:srgbClr val="FFFFFF"/>
                </a:solidFill>
                <a:latin typeface="Open Sauce Bold"/>
                <a:ea typeface="Open Sauce Bold"/>
                <a:cs typeface="Open Sauce Bold"/>
                <a:sym typeface="Open Sauce Bold"/>
              </a:rPr>
              <a:t>Testing &amp; Refinement</a:t>
            </a:r>
          </a:p>
          <a:p>
            <a:pPr algn="ctr">
              <a:lnSpc>
                <a:spcPts val="2399"/>
              </a:lnSpc>
            </a:pPr>
            <a:r>
              <a:rPr lang="en-US" b="true" sz="1999">
                <a:solidFill>
                  <a:srgbClr val="FFFFFF"/>
                </a:solidFill>
                <a:latin typeface="Open Sauce Bold"/>
                <a:ea typeface="Open Sauce Bold"/>
                <a:cs typeface="Open Sauce Bold"/>
                <a:sym typeface="Open Sauce Bold"/>
              </a:rPr>
              <a:t>Final Review</a:t>
            </a:r>
          </a:p>
        </p:txBody>
      </p:sp>
      <p:grpSp>
        <p:nvGrpSpPr>
          <p:cNvPr name="Group 15" id="15"/>
          <p:cNvGrpSpPr/>
          <p:nvPr/>
        </p:nvGrpSpPr>
        <p:grpSpPr>
          <a:xfrm rot="0">
            <a:off x="12069985" y="2118112"/>
            <a:ext cx="5303853" cy="5029324"/>
            <a:chOff x="0" y="0"/>
            <a:chExt cx="7071804" cy="6705765"/>
          </a:xfrm>
        </p:grpSpPr>
        <p:sp>
          <p:nvSpPr>
            <p:cNvPr name="Freeform 16" id="16"/>
            <p:cNvSpPr/>
            <p:nvPr/>
          </p:nvSpPr>
          <p:spPr>
            <a:xfrm flipH="false" flipV="false" rot="0">
              <a:off x="0" y="0"/>
              <a:ext cx="7071741" cy="6705600"/>
            </a:xfrm>
            <a:custGeom>
              <a:avLst/>
              <a:gdLst/>
              <a:ahLst/>
              <a:cxnLst/>
              <a:rect r="r" b="b" t="t" l="l"/>
              <a:pathLst>
                <a:path h="6705600" w="7071741">
                  <a:moveTo>
                    <a:pt x="0" y="1117600"/>
                  </a:moveTo>
                  <a:cubicBezTo>
                    <a:pt x="0" y="500380"/>
                    <a:pt x="500380" y="0"/>
                    <a:pt x="1117600" y="0"/>
                  </a:cubicBezTo>
                  <a:lnTo>
                    <a:pt x="5954141" y="0"/>
                  </a:lnTo>
                  <a:cubicBezTo>
                    <a:pt x="6571361" y="0"/>
                    <a:pt x="7071741" y="500380"/>
                    <a:pt x="7071741" y="1117600"/>
                  </a:cubicBezTo>
                  <a:lnTo>
                    <a:pt x="7071741" y="5588000"/>
                  </a:lnTo>
                  <a:cubicBezTo>
                    <a:pt x="7071741" y="6205220"/>
                    <a:pt x="6571361" y="6705600"/>
                    <a:pt x="5954141" y="6705600"/>
                  </a:cubicBezTo>
                  <a:lnTo>
                    <a:pt x="1117600" y="6705600"/>
                  </a:lnTo>
                  <a:cubicBezTo>
                    <a:pt x="500380" y="6705600"/>
                    <a:pt x="0" y="6205220"/>
                    <a:pt x="0" y="5588000"/>
                  </a:cubicBezTo>
                  <a:close/>
                </a:path>
              </a:pathLst>
            </a:custGeom>
            <a:solidFill>
              <a:srgbClr val="8C7753"/>
            </a:solidFill>
            <a:ln w="19065" cap="sq">
              <a:solidFill>
                <a:srgbClr val="D2DAE2"/>
              </a:solidFill>
              <a:prstDash val="solid"/>
              <a:miter/>
            </a:ln>
          </p:spPr>
        </p:sp>
      </p:grpSp>
      <p:sp>
        <p:nvSpPr>
          <p:cNvPr name="TextBox 17" id="17"/>
          <p:cNvSpPr txBox="true"/>
          <p:nvPr/>
        </p:nvSpPr>
        <p:spPr>
          <a:xfrm rot="0">
            <a:off x="13777671" y="2370115"/>
            <a:ext cx="1888480" cy="447675"/>
          </a:xfrm>
          <a:prstGeom prst="rect">
            <a:avLst/>
          </a:prstGeom>
        </p:spPr>
        <p:txBody>
          <a:bodyPr anchor="t" rtlCol="false" tIns="0" lIns="0" bIns="0" rIns="0">
            <a:spAutoFit/>
          </a:bodyPr>
          <a:lstStyle/>
          <a:p>
            <a:pPr algn="ctr">
              <a:lnSpc>
                <a:spcPts val="3590"/>
              </a:lnSpc>
            </a:pPr>
            <a:r>
              <a:rPr lang="en-US" sz="2992" spc="-179">
                <a:solidFill>
                  <a:srgbClr val="FFFFFF"/>
                </a:solidFill>
                <a:latin typeface="Open Sauce"/>
                <a:ea typeface="Open Sauce"/>
                <a:cs typeface="Open Sauce"/>
                <a:sym typeface="Open Sauce"/>
              </a:rPr>
              <a:t>NEXT STEP</a:t>
            </a:r>
          </a:p>
        </p:txBody>
      </p:sp>
      <p:sp>
        <p:nvSpPr>
          <p:cNvPr name="TextBox 18" id="18"/>
          <p:cNvSpPr txBox="true"/>
          <p:nvPr/>
        </p:nvSpPr>
        <p:spPr>
          <a:xfrm rot="0">
            <a:off x="12399750" y="3015272"/>
            <a:ext cx="4644323" cy="2362200"/>
          </a:xfrm>
          <a:prstGeom prst="rect">
            <a:avLst/>
          </a:prstGeom>
        </p:spPr>
        <p:txBody>
          <a:bodyPr anchor="t" rtlCol="false" tIns="0" lIns="0" bIns="0" rIns="0">
            <a:spAutoFit/>
          </a:bodyPr>
          <a:lstStyle/>
          <a:p>
            <a:pPr algn="ctr">
              <a:lnSpc>
                <a:spcPts val="2399"/>
              </a:lnSpc>
            </a:pPr>
            <a:r>
              <a:rPr lang="en-US" b="true" sz="1999">
                <a:solidFill>
                  <a:srgbClr val="FFFFFF"/>
                </a:solidFill>
                <a:latin typeface="Open Sauce Bold"/>
                <a:ea typeface="Open Sauce Bold"/>
                <a:cs typeface="Open Sauce Bold"/>
                <a:sym typeface="Open Sauce Bold"/>
              </a:rPr>
              <a:t>CONTROLLED PILOT</a:t>
            </a:r>
          </a:p>
          <a:p>
            <a:pPr algn="ctr">
              <a:lnSpc>
                <a:spcPts val="2399"/>
              </a:lnSpc>
            </a:pPr>
          </a:p>
          <a:p>
            <a:pPr algn="ctr">
              <a:lnSpc>
                <a:spcPts val="2399"/>
              </a:lnSpc>
            </a:pPr>
            <a:r>
              <a:rPr lang="en-US" b="true" sz="1999">
                <a:solidFill>
                  <a:srgbClr val="FFFFFF"/>
                </a:solidFill>
                <a:latin typeface="Open Sauce Bold"/>
                <a:ea typeface="Open Sauce Bold"/>
                <a:cs typeface="Open Sauce Bold"/>
                <a:sym typeface="Open Sauce Bold"/>
              </a:rPr>
              <a:t>Validate:</a:t>
            </a:r>
          </a:p>
          <a:p>
            <a:pPr algn="ctr">
              <a:lnSpc>
                <a:spcPts val="2399"/>
              </a:lnSpc>
            </a:pPr>
            <a:r>
              <a:rPr lang="en-US" b="true" sz="1999">
                <a:solidFill>
                  <a:srgbClr val="FFFFFF"/>
                </a:solidFill>
                <a:latin typeface="Open Sauce Bold"/>
                <a:ea typeface="Open Sauce Bold"/>
                <a:cs typeface="Open Sauce Bold"/>
                <a:sym typeface="Open Sauce Bold"/>
              </a:rPr>
              <a:t>• Technical feasibility</a:t>
            </a:r>
          </a:p>
          <a:p>
            <a:pPr algn="ctr">
              <a:lnSpc>
                <a:spcPts val="2399"/>
              </a:lnSpc>
            </a:pPr>
            <a:r>
              <a:rPr lang="en-US" b="true" sz="1999">
                <a:solidFill>
                  <a:srgbClr val="FFFFFF"/>
                </a:solidFill>
                <a:latin typeface="Open Sauce Bold"/>
                <a:ea typeface="Open Sauce Bold"/>
                <a:cs typeface="Open Sauce Bold"/>
                <a:sym typeface="Open Sauce Bold"/>
              </a:rPr>
              <a:t>• Operational value</a:t>
            </a:r>
          </a:p>
          <a:p>
            <a:pPr algn="ctr">
              <a:lnSpc>
                <a:spcPts val="2399"/>
              </a:lnSpc>
            </a:pPr>
            <a:r>
              <a:rPr lang="en-US" b="true" sz="1999">
                <a:solidFill>
                  <a:srgbClr val="FFFFFF"/>
                </a:solidFill>
                <a:latin typeface="Open Sauce Bold"/>
                <a:ea typeface="Open Sauce Bold"/>
                <a:cs typeface="Open Sauce Bold"/>
                <a:sym typeface="Open Sauce Bold"/>
              </a:rPr>
              <a:t>• User adoption</a:t>
            </a:r>
          </a:p>
          <a:p>
            <a:pPr algn="ctr">
              <a:lnSpc>
                <a:spcPts val="2399"/>
              </a:lnSpc>
            </a:pPr>
          </a:p>
          <a:p>
            <a:pPr algn="ctr">
              <a:lnSpc>
                <a:spcPts val="2399"/>
              </a:lnSpc>
            </a:pPr>
            <a:r>
              <a:rPr lang="en-US" b="true" sz="1999">
                <a:solidFill>
                  <a:srgbClr val="FFFFFF"/>
                </a:solidFill>
                <a:latin typeface="Open Sauce Bold"/>
                <a:ea typeface="Open Sauce Bold"/>
                <a:cs typeface="Open Sauce Bold"/>
                <a:sym typeface="Open Sauce Bold"/>
              </a:rPr>
              <a:t>Before larger-scale deployment</a:t>
            </a:r>
          </a:p>
        </p:txBody>
      </p:sp>
      <p:sp>
        <p:nvSpPr>
          <p:cNvPr name="TextBox 19" id="19"/>
          <p:cNvSpPr txBox="true"/>
          <p:nvPr/>
        </p:nvSpPr>
        <p:spPr>
          <a:xfrm rot="0">
            <a:off x="1308554" y="7782649"/>
            <a:ext cx="15708058" cy="1266825"/>
          </a:xfrm>
          <a:prstGeom prst="rect">
            <a:avLst/>
          </a:prstGeom>
        </p:spPr>
        <p:txBody>
          <a:bodyPr anchor="t" rtlCol="false" tIns="0" lIns="0" bIns="0" rIns="0">
            <a:spAutoFit/>
          </a:bodyPr>
          <a:lstStyle/>
          <a:p>
            <a:pPr algn="ctr">
              <a:lnSpc>
                <a:spcPts val="3349"/>
              </a:lnSpc>
            </a:pPr>
            <a:r>
              <a:rPr lang="en-US" sz="2791" spc="-167">
                <a:solidFill>
                  <a:srgbClr val="331B0D"/>
                </a:solidFill>
                <a:latin typeface="Open Sauce"/>
                <a:ea typeface="Open Sauce"/>
                <a:cs typeface="Open Sauce"/>
                <a:sym typeface="Open Sauce"/>
              </a:rPr>
              <a:t>Key assumptions:</a:t>
            </a:r>
          </a:p>
          <a:p>
            <a:pPr algn="ctr">
              <a:lnSpc>
                <a:spcPts val="3349"/>
              </a:lnSpc>
            </a:pPr>
            <a:r>
              <a:rPr lang="en-US" sz="2791" spc="-167">
                <a:solidFill>
                  <a:srgbClr val="331B0D"/>
                </a:solidFill>
                <a:latin typeface="Open Sauce"/>
                <a:ea typeface="Open Sauce"/>
                <a:cs typeface="Open Sauce"/>
                <a:sym typeface="Open Sauce"/>
              </a:rPr>
              <a:t>Focused scope • Pilot data • Limited integrations</a:t>
            </a:r>
          </a:p>
          <a:p>
            <a:pPr algn="ctr">
              <a:lnSpc>
                <a:spcPts val="3349"/>
              </a:lnSpc>
            </a:pPr>
            <a:r>
              <a:rPr lang="en-US" sz="2791" spc="-167">
                <a:solidFill>
                  <a:srgbClr val="331B0D"/>
                </a:solidFill>
                <a:latin typeface="Open Sauce"/>
                <a:ea typeface="Open Sauce"/>
                <a:cs typeface="Open Sauce"/>
                <a:sym typeface="Open Sauce"/>
              </a:rPr>
              <a:t>• Small user group • Human oversight</a:t>
            </a:r>
          </a:p>
        </p:txBody>
      </p:sp>
      <p:sp>
        <p:nvSpPr>
          <p:cNvPr name="TextBox 20" id="20"/>
          <p:cNvSpPr txBox="true"/>
          <p:nvPr/>
        </p:nvSpPr>
        <p:spPr>
          <a:xfrm rot="0">
            <a:off x="13082264" y="9764239"/>
            <a:ext cx="4327874" cy="161925"/>
          </a:xfrm>
          <a:prstGeom prst="rect">
            <a:avLst/>
          </a:prstGeom>
        </p:spPr>
        <p:txBody>
          <a:bodyPr anchor="t" rtlCol="false" tIns="0" lIns="0" bIns="0" rIns="0">
            <a:spAutoFit/>
          </a:bodyPr>
          <a:lstStyle/>
          <a:p>
            <a:pPr algn="r">
              <a:lnSpc>
                <a:spcPts val="1297"/>
              </a:lnSpc>
            </a:pPr>
            <a:r>
              <a:rPr lang="en-US" sz="1080">
                <a:solidFill>
                  <a:srgbClr val="8C7753"/>
                </a:solidFill>
                <a:latin typeface="Open Sauce"/>
                <a:ea typeface="Open Sauce"/>
                <a:cs typeface="Open Sauce"/>
                <a:sym typeface="Open Sauce"/>
              </a:rPr>
              <a:t>Crew Change Risk Copilot  |  Round 1 Presentation  |  5</a:t>
            </a:r>
          </a:p>
        </p:txBody>
      </p:sp>
      <p:grpSp>
        <p:nvGrpSpPr>
          <p:cNvPr name="Group 21" id="21"/>
          <p:cNvGrpSpPr/>
          <p:nvPr/>
        </p:nvGrpSpPr>
        <p:grpSpPr>
          <a:xfrm rot="0">
            <a:off x="754971" y="137265"/>
            <a:ext cx="7622143" cy="737811"/>
            <a:chOff x="0" y="0"/>
            <a:chExt cx="10162858" cy="983749"/>
          </a:xfrm>
        </p:grpSpPr>
        <p:sp>
          <p:nvSpPr>
            <p:cNvPr name="Freeform 22" id="22"/>
            <p:cNvSpPr/>
            <p:nvPr/>
          </p:nvSpPr>
          <p:spPr>
            <a:xfrm flipH="false" flipV="false" rot="0">
              <a:off x="0" y="0"/>
              <a:ext cx="10162860" cy="983742"/>
            </a:xfrm>
            <a:custGeom>
              <a:avLst/>
              <a:gdLst/>
              <a:ahLst/>
              <a:cxnLst/>
              <a:rect r="r" b="b" t="t" l="l"/>
              <a:pathLst>
                <a:path h="983742" w="10162860">
                  <a:moveTo>
                    <a:pt x="0" y="0"/>
                  </a:moveTo>
                  <a:lnTo>
                    <a:pt x="10162860" y="0"/>
                  </a:lnTo>
                  <a:lnTo>
                    <a:pt x="10162860" y="983742"/>
                  </a:lnTo>
                  <a:lnTo>
                    <a:pt x="0" y="983742"/>
                  </a:lnTo>
                  <a:close/>
                </a:path>
              </a:pathLst>
            </a:custGeom>
            <a:blipFill>
              <a:blip r:embed="rId3">
                <a:alphaModFix amt="0"/>
              </a:blip>
              <a:stretch>
                <a:fillRect l="0" t="-151295" r="0" b="-151296"/>
              </a:stretch>
            </a:blipFill>
          </p:spPr>
        </p:sp>
        <p:sp>
          <p:nvSpPr>
            <p:cNvPr name="TextBox 23" id="23"/>
            <p:cNvSpPr txBox="true"/>
            <p:nvPr/>
          </p:nvSpPr>
          <p:spPr>
            <a:xfrm>
              <a:off x="0" y="0"/>
              <a:ext cx="10162858" cy="983749"/>
            </a:xfrm>
            <a:prstGeom prst="rect">
              <a:avLst/>
            </a:prstGeom>
          </p:spPr>
          <p:txBody>
            <a:bodyPr anchor="b" rtlCol="false" tIns="0" lIns="0" bIns="0" rIns="0"/>
            <a:lstStyle/>
            <a:p>
              <a:pPr algn="l">
                <a:lnSpc>
                  <a:spcPts val="2918"/>
                </a:lnSpc>
              </a:pPr>
              <a:r>
                <a:rPr lang="en-US" b="true" sz="2431">
                  <a:solidFill>
                    <a:srgbClr val="331B0D"/>
                  </a:solidFill>
                  <a:latin typeface="Open Sauce Bold"/>
                  <a:ea typeface="Open Sauce Bold"/>
                  <a:cs typeface="Open Sauce Bold"/>
                  <a:sym typeface="Open Sauce Bold"/>
                </a:rPr>
                <a:t>Indicative Cost, Timeline &amp; Next Step</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grpSp>
        <p:nvGrpSpPr>
          <p:cNvPr name="Group 2" id="2"/>
          <p:cNvGrpSpPr/>
          <p:nvPr/>
        </p:nvGrpSpPr>
        <p:grpSpPr>
          <a:xfrm rot="0">
            <a:off x="-9535" y="-92192"/>
            <a:ext cx="18319461" cy="10395547"/>
            <a:chOff x="0" y="0"/>
            <a:chExt cx="24425948" cy="13860729"/>
          </a:xfrm>
        </p:grpSpPr>
        <p:sp>
          <p:nvSpPr>
            <p:cNvPr name="Freeform 3" id="3"/>
            <p:cNvSpPr/>
            <p:nvPr/>
          </p:nvSpPr>
          <p:spPr>
            <a:xfrm flipH="false" flipV="false" rot="0">
              <a:off x="0" y="0"/>
              <a:ext cx="24425911" cy="13860780"/>
            </a:xfrm>
            <a:custGeom>
              <a:avLst/>
              <a:gdLst/>
              <a:ahLst/>
              <a:cxnLst/>
              <a:rect r="r" b="b" t="t" l="l"/>
              <a:pathLst>
                <a:path h="13860780" w="24425911">
                  <a:moveTo>
                    <a:pt x="0" y="0"/>
                  </a:moveTo>
                  <a:lnTo>
                    <a:pt x="24425911" y="0"/>
                  </a:lnTo>
                  <a:lnTo>
                    <a:pt x="24425911" y="13860780"/>
                  </a:lnTo>
                  <a:lnTo>
                    <a:pt x="0" y="13860780"/>
                  </a:lnTo>
                  <a:close/>
                </a:path>
              </a:pathLst>
            </a:custGeom>
            <a:solidFill>
              <a:srgbClr val="FAF7F0"/>
            </a:solidFill>
            <a:ln w="19065" cap="sq">
              <a:solidFill>
                <a:srgbClr val="DCD6CA"/>
              </a:solidFill>
              <a:prstDash val="solid"/>
              <a:miter/>
            </a:ln>
          </p:spPr>
        </p:sp>
      </p:grpSp>
      <p:sp>
        <p:nvSpPr>
          <p:cNvPr name="AutoShape 4" id="4"/>
          <p:cNvSpPr/>
          <p:nvPr/>
        </p:nvSpPr>
        <p:spPr>
          <a:xfrm rot="-4647840">
            <a:off x="239811" y="412213"/>
            <a:ext cx="1273578" cy="0"/>
          </a:xfrm>
          <a:prstGeom prst="line">
            <a:avLst/>
          </a:prstGeom>
          <a:ln cap="rnd" w="142875">
            <a:solidFill>
              <a:srgbClr val="8C7753"/>
            </a:solidFill>
            <a:prstDash val="solid"/>
            <a:headEnd type="none" len="sm" w="sm"/>
            <a:tailEnd type="none" len="sm" w="sm"/>
          </a:ln>
        </p:spPr>
      </p:sp>
      <p:sp>
        <p:nvSpPr>
          <p:cNvPr name="AutoShape 5" id="5"/>
          <p:cNvSpPr/>
          <p:nvPr/>
        </p:nvSpPr>
        <p:spPr>
          <a:xfrm rot="-4767600">
            <a:off x="-146837" y="533476"/>
            <a:ext cx="1511227" cy="0"/>
          </a:xfrm>
          <a:prstGeom prst="line">
            <a:avLst/>
          </a:prstGeom>
          <a:ln cap="rnd" w="142875">
            <a:solidFill>
              <a:srgbClr val="8C7753"/>
            </a:solidFill>
            <a:prstDash val="solid"/>
            <a:headEnd type="none" len="sm" w="sm"/>
            <a:tailEnd type="none" len="sm" w="sm"/>
          </a:ln>
        </p:spPr>
      </p:sp>
      <p:sp>
        <p:nvSpPr>
          <p:cNvPr name="TextBox 6" id="6"/>
          <p:cNvSpPr txBox="true"/>
          <p:nvPr/>
        </p:nvSpPr>
        <p:spPr>
          <a:xfrm rot="0">
            <a:off x="887587" y="1185034"/>
            <a:ext cx="10278980" cy="285750"/>
          </a:xfrm>
          <a:prstGeom prst="rect">
            <a:avLst/>
          </a:prstGeom>
        </p:spPr>
        <p:txBody>
          <a:bodyPr anchor="t" rtlCol="false" tIns="0" lIns="0" bIns="0" rIns="0">
            <a:spAutoFit/>
          </a:bodyPr>
          <a:lstStyle/>
          <a:p>
            <a:pPr algn="l">
              <a:lnSpc>
                <a:spcPts val="2301"/>
              </a:lnSpc>
            </a:pPr>
            <a:r>
              <a:rPr lang="en-US" sz="1917">
                <a:solidFill>
                  <a:srgbClr val="331B0D"/>
                </a:solidFill>
                <a:latin typeface="Open Sauce"/>
                <a:ea typeface="Open Sauce"/>
                <a:cs typeface="Open Sauce"/>
                <a:sym typeface="Open Sauce"/>
              </a:rPr>
              <a:t>AI-supported decision support for smarter and more proactive crew change operations</a:t>
            </a:r>
          </a:p>
        </p:txBody>
      </p:sp>
      <p:sp>
        <p:nvSpPr>
          <p:cNvPr name="TextBox 7" id="7"/>
          <p:cNvSpPr txBox="true"/>
          <p:nvPr/>
        </p:nvSpPr>
        <p:spPr>
          <a:xfrm rot="0">
            <a:off x="1445828" y="1958321"/>
            <a:ext cx="15364892" cy="971550"/>
          </a:xfrm>
          <a:prstGeom prst="rect">
            <a:avLst/>
          </a:prstGeom>
        </p:spPr>
        <p:txBody>
          <a:bodyPr anchor="t" rtlCol="false" tIns="0" lIns="0" bIns="0" rIns="0">
            <a:spAutoFit/>
          </a:bodyPr>
          <a:lstStyle/>
          <a:p>
            <a:pPr algn="ctr">
              <a:lnSpc>
                <a:spcPts val="3891"/>
              </a:lnSpc>
            </a:pPr>
            <a:r>
              <a:rPr lang="en-US" sz="3242" spc="-194">
                <a:solidFill>
                  <a:srgbClr val="331B0D"/>
                </a:solidFill>
                <a:latin typeface="Open Sauce"/>
                <a:ea typeface="Open Sauce"/>
                <a:cs typeface="Open Sauce"/>
                <a:sym typeface="Open Sauce"/>
              </a:rPr>
              <a:t>Use AI to help operations teams identify and understand potential crew-change disruptions — while keeping humans in control.</a:t>
            </a:r>
          </a:p>
        </p:txBody>
      </p:sp>
      <p:grpSp>
        <p:nvGrpSpPr>
          <p:cNvPr name="Group 8" id="8"/>
          <p:cNvGrpSpPr/>
          <p:nvPr/>
        </p:nvGrpSpPr>
        <p:grpSpPr>
          <a:xfrm rot="0">
            <a:off x="1294505" y="3628053"/>
            <a:ext cx="4960687" cy="2421245"/>
            <a:chOff x="0" y="0"/>
            <a:chExt cx="6614249" cy="3228327"/>
          </a:xfrm>
        </p:grpSpPr>
        <p:sp>
          <p:nvSpPr>
            <p:cNvPr name="Freeform 9" id="9"/>
            <p:cNvSpPr/>
            <p:nvPr/>
          </p:nvSpPr>
          <p:spPr>
            <a:xfrm flipH="false" flipV="false" rot="0">
              <a:off x="0" y="0"/>
              <a:ext cx="6614287" cy="3228340"/>
            </a:xfrm>
            <a:custGeom>
              <a:avLst/>
              <a:gdLst/>
              <a:ahLst/>
              <a:cxnLst/>
              <a:rect r="r" b="b" t="t" l="l"/>
              <a:pathLst>
                <a:path h="3228340" w="6614287">
                  <a:moveTo>
                    <a:pt x="0" y="538099"/>
                  </a:moveTo>
                  <a:cubicBezTo>
                    <a:pt x="0" y="240919"/>
                    <a:pt x="240919" y="0"/>
                    <a:pt x="538099" y="0"/>
                  </a:cubicBezTo>
                  <a:lnTo>
                    <a:pt x="6076188" y="0"/>
                  </a:lnTo>
                  <a:cubicBezTo>
                    <a:pt x="6373368" y="0"/>
                    <a:pt x="6614287" y="240919"/>
                    <a:pt x="6614287" y="538099"/>
                  </a:cubicBezTo>
                  <a:lnTo>
                    <a:pt x="6614287" y="2690241"/>
                  </a:lnTo>
                  <a:cubicBezTo>
                    <a:pt x="6614287" y="2987421"/>
                    <a:pt x="6373368" y="3228340"/>
                    <a:pt x="6076188" y="3228340"/>
                  </a:cubicBezTo>
                  <a:lnTo>
                    <a:pt x="538099" y="3228340"/>
                  </a:lnTo>
                  <a:cubicBezTo>
                    <a:pt x="240919" y="3228340"/>
                    <a:pt x="0" y="2987421"/>
                    <a:pt x="0" y="2690241"/>
                  </a:cubicBezTo>
                  <a:close/>
                </a:path>
              </a:pathLst>
            </a:custGeom>
            <a:solidFill>
              <a:srgbClr val="8C7753"/>
            </a:solidFill>
            <a:ln w="19065" cap="sq">
              <a:solidFill>
                <a:srgbClr val="D2DAE2"/>
              </a:solidFill>
              <a:prstDash val="solid"/>
              <a:miter/>
            </a:ln>
          </p:spPr>
        </p:sp>
      </p:grpSp>
      <p:sp>
        <p:nvSpPr>
          <p:cNvPr name="TextBox 10" id="10"/>
          <p:cNvSpPr txBox="true"/>
          <p:nvPr/>
        </p:nvSpPr>
        <p:spPr>
          <a:xfrm rot="0">
            <a:off x="3020289" y="3880056"/>
            <a:ext cx="1509117" cy="447675"/>
          </a:xfrm>
          <a:prstGeom prst="rect">
            <a:avLst/>
          </a:prstGeom>
        </p:spPr>
        <p:txBody>
          <a:bodyPr anchor="t" rtlCol="false" tIns="0" lIns="0" bIns="0" rIns="0">
            <a:spAutoFit/>
          </a:bodyPr>
          <a:lstStyle/>
          <a:p>
            <a:pPr algn="ctr">
              <a:lnSpc>
                <a:spcPts val="3557"/>
              </a:lnSpc>
            </a:pPr>
            <a:r>
              <a:rPr lang="en-US" sz="2964" spc="-177">
                <a:solidFill>
                  <a:srgbClr val="FFFFFF"/>
                </a:solidFill>
                <a:latin typeface="Open Sauce"/>
                <a:ea typeface="Open Sauce"/>
                <a:cs typeface="Open Sauce"/>
                <a:sym typeface="Open Sauce"/>
              </a:rPr>
              <a:t>IDENTIFY</a:t>
            </a:r>
          </a:p>
        </p:txBody>
      </p:sp>
      <p:sp>
        <p:nvSpPr>
          <p:cNvPr name="TextBox 11" id="11"/>
          <p:cNvSpPr txBox="true"/>
          <p:nvPr/>
        </p:nvSpPr>
        <p:spPr>
          <a:xfrm rot="0">
            <a:off x="1624270" y="4515688"/>
            <a:ext cx="4301157" cy="638175"/>
          </a:xfrm>
          <a:prstGeom prst="rect">
            <a:avLst/>
          </a:prstGeom>
        </p:spPr>
        <p:txBody>
          <a:bodyPr anchor="t" rtlCol="false" tIns="0" lIns="0" bIns="0" rIns="0">
            <a:spAutoFit/>
          </a:bodyPr>
          <a:lstStyle/>
          <a:p>
            <a:pPr algn="ctr">
              <a:lnSpc>
                <a:spcPts val="2512"/>
              </a:lnSpc>
            </a:pPr>
            <a:r>
              <a:rPr lang="en-US" b="true" sz="2093">
                <a:solidFill>
                  <a:srgbClr val="FFFFFF"/>
                </a:solidFill>
                <a:latin typeface="Open Sauce Bold"/>
                <a:ea typeface="Open Sauce Bold"/>
                <a:cs typeface="Open Sauce Bold"/>
                <a:sym typeface="Open Sauce Bold"/>
              </a:rPr>
              <a:t>Potential cases</a:t>
            </a:r>
          </a:p>
          <a:p>
            <a:pPr algn="ctr">
              <a:lnSpc>
                <a:spcPts val="2512"/>
              </a:lnSpc>
            </a:pPr>
            <a:r>
              <a:rPr lang="en-US" b="true" sz="2093">
                <a:solidFill>
                  <a:srgbClr val="FFFFFF"/>
                </a:solidFill>
                <a:latin typeface="Open Sauce Bold"/>
                <a:ea typeface="Open Sauce Bold"/>
                <a:cs typeface="Open Sauce Bold"/>
                <a:sym typeface="Open Sauce Bold"/>
              </a:rPr>
              <a:t>requiring review</a:t>
            </a:r>
          </a:p>
        </p:txBody>
      </p:sp>
      <p:grpSp>
        <p:nvGrpSpPr>
          <p:cNvPr name="Group 12" id="12"/>
          <p:cNvGrpSpPr/>
          <p:nvPr/>
        </p:nvGrpSpPr>
        <p:grpSpPr>
          <a:xfrm rot="0">
            <a:off x="6638392" y="3618519"/>
            <a:ext cx="4979746" cy="2440305"/>
            <a:chOff x="0" y="0"/>
            <a:chExt cx="6639662" cy="3253740"/>
          </a:xfrm>
        </p:grpSpPr>
        <p:sp>
          <p:nvSpPr>
            <p:cNvPr name="Freeform 13" id="13"/>
            <p:cNvSpPr/>
            <p:nvPr/>
          </p:nvSpPr>
          <p:spPr>
            <a:xfrm flipH="false" flipV="false" rot="0">
              <a:off x="0" y="0"/>
              <a:ext cx="6639687" cy="3253740"/>
            </a:xfrm>
            <a:custGeom>
              <a:avLst/>
              <a:gdLst/>
              <a:ahLst/>
              <a:cxnLst/>
              <a:rect r="r" b="b" t="t" l="l"/>
              <a:pathLst>
                <a:path h="3253740" w="6639687">
                  <a:moveTo>
                    <a:pt x="0" y="542290"/>
                  </a:moveTo>
                  <a:cubicBezTo>
                    <a:pt x="0" y="242824"/>
                    <a:pt x="242824" y="0"/>
                    <a:pt x="542290" y="0"/>
                  </a:cubicBezTo>
                  <a:lnTo>
                    <a:pt x="6097397" y="0"/>
                  </a:lnTo>
                  <a:cubicBezTo>
                    <a:pt x="6396863" y="0"/>
                    <a:pt x="6639687" y="242824"/>
                    <a:pt x="6639687" y="542290"/>
                  </a:cubicBezTo>
                  <a:lnTo>
                    <a:pt x="6639687" y="2711450"/>
                  </a:lnTo>
                  <a:cubicBezTo>
                    <a:pt x="6639687" y="3010916"/>
                    <a:pt x="6396863" y="3253740"/>
                    <a:pt x="6097397" y="3253740"/>
                  </a:cubicBezTo>
                  <a:lnTo>
                    <a:pt x="542290" y="3253740"/>
                  </a:lnTo>
                  <a:cubicBezTo>
                    <a:pt x="242824" y="3253740"/>
                    <a:pt x="0" y="3010916"/>
                    <a:pt x="0" y="2711450"/>
                  </a:cubicBezTo>
                  <a:close/>
                </a:path>
              </a:pathLst>
            </a:custGeom>
            <a:solidFill>
              <a:srgbClr val="8C7753"/>
            </a:solidFill>
            <a:ln w="38130" cap="sq">
              <a:solidFill>
                <a:srgbClr val="FFD966"/>
              </a:solidFill>
              <a:prstDash val="solid"/>
              <a:miter/>
            </a:ln>
          </p:spPr>
        </p:sp>
      </p:grpSp>
      <p:sp>
        <p:nvSpPr>
          <p:cNvPr name="TextBox 14" id="14"/>
          <p:cNvSpPr txBox="true"/>
          <p:nvPr/>
        </p:nvSpPr>
        <p:spPr>
          <a:xfrm rot="0">
            <a:off x="8428108" y="3880056"/>
            <a:ext cx="1400324" cy="447675"/>
          </a:xfrm>
          <a:prstGeom prst="rect">
            <a:avLst/>
          </a:prstGeom>
        </p:spPr>
        <p:txBody>
          <a:bodyPr anchor="t" rtlCol="false" tIns="0" lIns="0" bIns="0" rIns="0">
            <a:spAutoFit/>
          </a:bodyPr>
          <a:lstStyle/>
          <a:p>
            <a:pPr algn="ctr">
              <a:lnSpc>
                <a:spcPts val="3557"/>
              </a:lnSpc>
            </a:pPr>
            <a:r>
              <a:rPr lang="en-US" sz="2964" spc="-177">
                <a:solidFill>
                  <a:srgbClr val="FFFFFF"/>
                </a:solidFill>
                <a:latin typeface="Open Sauce"/>
                <a:ea typeface="Open Sauce"/>
                <a:cs typeface="Open Sauce"/>
                <a:sym typeface="Open Sauce"/>
              </a:rPr>
              <a:t>EXPLAIN</a:t>
            </a:r>
          </a:p>
        </p:txBody>
      </p:sp>
      <p:sp>
        <p:nvSpPr>
          <p:cNvPr name="TextBox 15" id="15"/>
          <p:cNvSpPr txBox="true"/>
          <p:nvPr/>
        </p:nvSpPr>
        <p:spPr>
          <a:xfrm rot="0">
            <a:off x="6977691" y="4515688"/>
            <a:ext cx="4301157" cy="638175"/>
          </a:xfrm>
          <a:prstGeom prst="rect">
            <a:avLst/>
          </a:prstGeom>
        </p:spPr>
        <p:txBody>
          <a:bodyPr anchor="t" rtlCol="false" tIns="0" lIns="0" bIns="0" rIns="0">
            <a:spAutoFit/>
          </a:bodyPr>
          <a:lstStyle/>
          <a:p>
            <a:pPr algn="ctr">
              <a:lnSpc>
                <a:spcPts val="2512"/>
              </a:lnSpc>
            </a:pPr>
            <a:r>
              <a:rPr lang="en-US" b="true" sz="2093">
                <a:solidFill>
                  <a:srgbClr val="FFFFFF"/>
                </a:solidFill>
                <a:latin typeface="Open Sauce Bold"/>
                <a:ea typeface="Open Sauce Bold"/>
                <a:cs typeface="Open Sauce Bold"/>
                <a:sym typeface="Open Sauce Bold"/>
              </a:rPr>
              <a:t>Relevant factors</a:t>
            </a:r>
          </a:p>
          <a:p>
            <a:pPr algn="ctr">
              <a:lnSpc>
                <a:spcPts val="2512"/>
              </a:lnSpc>
            </a:pPr>
            <a:r>
              <a:rPr lang="en-US" b="true" sz="2093">
                <a:solidFill>
                  <a:srgbClr val="FFFFFF"/>
                </a:solidFill>
                <a:latin typeface="Open Sauce Bold"/>
                <a:ea typeface="Open Sauce Bold"/>
                <a:cs typeface="Open Sauce Bold"/>
                <a:sym typeface="Open Sauce Bold"/>
              </a:rPr>
              <a:t>and context</a:t>
            </a:r>
          </a:p>
        </p:txBody>
      </p:sp>
      <p:grpSp>
        <p:nvGrpSpPr>
          <p:cNvPr name="Group 16" id="16"/>
          <p:cNvGrpSpPr/>
          <p:nvPr/>
        </p:nvGrpSpPr>
        <p:grpSpPr>
          <a:xfrm rot="0">
            <a:off x="12001348" y="3628053"/>
            <a:ext cx="4960687" cy="2421245"/>
            <a:chOff x="0" y="0"/>
            <a:chExt cx="6614249" cy="3228327"/>
          </a:xfrm>
        </p:grpSpPr>
        <p:sp>
          <p:nvSpPr>
            <p:cNvPr name="Freeform 17" id="17"/>
            <p:cNvSpPr/>
            <p:nvPr/>
          </p:nvSpPr>
          <p:spPr>
            <a:xfrm flipH="false" flipV="false" rot="0">
              <a:off x="0" y="0"/>
              <a:ext cx="6614287" cy="3228340"/>
            </a:xfrm>
            <a:custGeom>
              <a:avLst/>
              <a:gdLst/>
              <a:ahLst/>
              <a:cxnLst/>
              <a:rect r="r" b="b" t="t" l="l"/>
              <a:pathLst>
                <a:path h="3228340" w="6614287">
                  <a:moveTo>
                    <a:pt x="0" y="538099"/>
                  </a:moveTo>
                  <a:cubicBezTo>
                    <a:pt x="0" y="240919"/>
                    <a:pt x="240919" y="0"/>
                    <a:pt x="538099" y="0"/>
                  </a:cubicBezTo>
                  <a:lnTo>
                    <a:pt x="6076188" y="0"/>
                  </a:lnTo>
                  <a:cubicBezTo>
                    <a:pt x="6373368" y="0"/>
                    <a:pt x="6614287" y="240919"/>
                    <a:pt x="6614287" y="538099"/>
                  </a:cubicBezTo>
                  <a:lnTo>
                    <a:pt x="6614287" y="2690241"/>
                  </a:lnTo>
                  <a:cubicBezTo>
                    <a:pt x="6614287" y="2987421"/>
                    <a:pt x="6373368" y="3228340"/>
                    <a:pt x="6076188" y="3228340"/>
                  </a:cubicBezTo>
                  <a:lnTo>
                    <a:pt x="538099" y="3228340"/>
                  </a:lnTo>
                  <a:cubicBezTo>
                    <a:pt x="240919" y="3228340"/>
                    <a:pt x="0" y="2987421"/>
                    <a:pt x="0" y="2690241"/>
                  </a:cubicBezTo>
                  <a:close/>
                </a:path>
              </a:pathLst>
            </a:custGeom>
            <a:solidFill>
              <a:srgbClr val="8C7753"/>
            </a:solidFill>
            <a:ln w="19065" cap="sq">
              <a:solidFill>
                <a:srgbClr val="D2DAE2"/>
              </a:solidFill>
              <a:prstDash val="solid"/>
              <a:miter/>
            </a:ln>
          </p:spPr>
        </p:sp>
      </p:grpSp>
      <p:sp>
        <p:nvSpPr>
          <p:cNvPr name="TextBox 18" id="18"/>
          <p:cNvSpPr txBox="true"/>
          <p:nvPr/>
        </p:nvSpPr>
        <p:spPr>
          <a:xfrm rot="0">
            <a:off x="13662541" y="3880056"/>
            <a:ext cx="1638300" cy="447675"/>
          </a:xfrm>
          <a:prstGeom prst="rect">
            <a:avLst/>
          </a:prstGeom>
        </p:spPr>
        <p:txBody>
          <a:bodyPr anchor="t" rtlCol="false" tIns="0" lIns="0" bIns="0" rIns="0">
            <a:spAutoFit/>
          </a:bodyPr>
          <a:lstStyle/>
          <a:p>
            <a:pPr algn="ctr">
              <a:lnSpc>
                <a:spcPts val="3557"/>
              </a:lnSpc>
            </a:pPr>
            <a:r>
              <a:rPr lang="en-US" sz="2964" spc="-177">
                <a:solidFill>
                  <a:srgbClr val="FFFFFF"/>
                </a:solidFill>
                <a:latin typeface="Open Sauce"/>
                <a:ea typeface="Open Sauce"/>
                <a:cs typeface="Open Sauce"/>
                <a:sym typeface="Open Sauce"/>
              </a:rPr>
              <a:t>SUPPORT</a:t>
            </a:r>
          </a:p>
        </p:txBody>
      </p:sp>
      <p:sp>
        <p:nvSpPr>
          <p:cNvPr name="TextBox 19" id="19"/>
          <p:cNvSpPr txBox="true"/>
          <p:nvPr/>
        </p:nvSpPr>
        <p:spPr>
          <a:xfrm rot="0">
            <a:off x="12331113" y="4515688"/>
            <a:ext cx="4301157" cy="638175"/>
          </a:xfrm>
          <a:prstGeom prst="rect">
            <a:avLst/>
          </a:prstGeom>
        </p:spPr>
        <p:txBody>
          <a:bodyPr anchor="t" rtlCol="false" tIns="0" lIns="0" bIns="0" rIns="0">
            <a:spAutoFit/>
          </a:bodyPr>
          <a:lstStyle/>
          <a:p>
            <a:pPr algn="ctr">
              <a:lnSpc>
                <a:spcPts val="2512"/>
              </a:lnSpc>
            </a:pPr>
            <a:r>
              <a:rPr lang="en-US" b="true" sz="2093">
                <a:solidFill>
                  <a:srgbClr val="FFFFFF"/>
                </a:solidFill>
                <a:latin typeface="Open Sauce Bold"/>
                <a:ea typeface="Open Sauce Bold"/>
                <a:cs typeface="Open Sauce Bold"/>
                <a:sym typeface="Open Sauce Bold"/>
              </a:rPr>
              <a:t>Human judgement,</a:t>
            </a:r>
          </a:p>
          <a:p>
            <a:pPr algn="ctr">
              <a:lnSpc>
                <a:spcPts val="2512"/>
              </a:lnSpc>
            </a:pPr>
            <a:r>
              <a:rPr lang="en-US" b="true" sz="2093">
                <a:solidFill>
                  <a:srgbClr val="FFFFFF"/>
                </a:solidFill>
                <a:latin typeface="Open Sauce Bold"/>
                <a:ea typeface="Open Sauce Bold"/>
                <a:cs typeface="Open Sauce Bold"/>
                <a:sym typeface="Open Sauce Bold"/>
              </a:rPr>
              <a:t>not autonomous decisions</a:t>
            </a:r>
          </a:p>
        </p:txBody>
      </p:sp>
      <p:grpSp>
        <p:nvGrpSpPr>
          <p:cNvPr name="Group 20" id="20"/>
          <p:cNvGrpSpPr/>
          <p:nvPr/>
        </p:nvGrpSpPr>
        <p:grpSpPr>
          <a:xfrm rot="0">
            <a:off x="1696774" y="6912931"/>
            <a:ext cx="14931628" cy="1685334"/>
            <a:chOff x="0" y="0"/>
            <a:chExt cx="19908838" cy="2247113"/>
          </a:xfrm>
        </p:grpSpPr>
        <p:sp>
          <p:nvSpPr>
            <p:cNvPr name="Freeform 21" id="21"/>
            <p:cNvSpPr/>
            <p:nvPr/>
          </p:nvSpPr>
          <p:spPr>
            <a:xfrm flipH="false" flipV="false" rot="0">
              <a:off x="0" y="0"/>
              <a:ext cx="19908774" cy="2247138"/>
            </a:xfrm>
            <a:custGeom>
              <a:avLst/>
              <a:gdLst/>
              <a:ahLst/>
              <a:cxnLst/>
              <a:rect r="r" b="b" t="t" l="l"/>
              <a:pathLst>
                <a:path h="2247138" w="19908774">
                  <a:moveTo>
                    <a:pt x="0" y="374523"/>
                  </a:moveTo>
                  <a:cubicBezTo>
                    <a:pt x="0" y="167640"/>
                    <a:pt x="167640" y="0"/>
                    <a:pt x="374523" y="0"/>
                  </a:cubicBezTo>
                  <a:lnTo>
                    <a:pt x="19534251" y="0"/>
                  </a:lnTo>
                  <a:cubicBezTo>
                    <a:pt x="19741135" y="0"/>
                    <a:pt x="19908774" y="167640"/>
                    <a:pt x="19908774" y="374523"/>
                  </a:cubicBezTo>
                  <a:lnTo>
                    <a:pt x="19908774" y="1872615"/>
                  </a:lnTo>
                  <a:cubicBezTo>
                    <a:pt x="19908774" y="2079498"/>
                    <a:pt x="19741135" y="2247138"/>
                    <a:pt x="19534251" y="2247138"/>
                  </a:cubicBezTo>
                  <a:lnTo>
                    <a:pt x="374523" y="2247138"/>
                  </a:lnTo>
                  <a:cubicBezTo>
                    <a:pt x="167640" y="2247138"/>
                    <a:pt x="0" y="2079498"/>
                    <a:pt x="0" y="1872615"/>
                  </a:cubicBezTo>
                  <a:close/>
                </a:path>
              </a:pathLst>
            </a:custGeom>
            <a:solidFill>
              <a:srgbClr val="8C7753"/>
            </a:solidFill>
            <a:ln w="38130" cap="sq">
              <a:solidFill>
                <a:srgbClr val="6BFFFF"/>
              </a:solidFill>
              <a:prstDash val="solid"/>
              <a:miter/>
            </a:ln>
          </p:spPr>
        </p:sp>
      </p:grpSp>
      <p:sp>
        <p:nvSpPr>
          <p:cNvPr name="TextBox 22" id="22"/>
          <p:cNvSpPr txBox="true"/>
          <p:nvPr/>
        </p:nvSpPr>
        <p:spPr>
          <a:xfrm rot="0">
            <a:off x="2036074" y="7174468"/>
            <a:ext cx="7570887" cy="447675"/>
          </a:xfrm>
          <a:prstGeom prst="rect">
            <a:avLst/>
          </a:prstGeom>
        </p:spPr>
        <p:txBody>
          <a:bodyPr anchor="t" rtlCol="false" tIns="0" lIns="0" bIns="0" rIns="0">
            <a:spAutoFit/>
          </a:bodyPr>
          <a:lstStyle/>
          <a:p>
            <a:pPr algn="l">
              <a:lnSpc>
                <a:spcPts val="3590"/>
              </a:lnSpc>
            </a:pPr>
            <a:r>
              <a:rPr lang="en-US" sz="2992" spc="-179">
                <a:solidFill>
                  <a:srgbClr val="FFFFFF"/>
                </a:solidFill>
                <a:latin typeface="Open Sauce"/>
                <a:ea typeface="Open Sauce"/>
                <a:cs typeface="Open Sauce"/>
                <a:sym typeface="Open Sauce"/>
              </a:rPr>
              <a:t>WHAT I WOULD VALUE YOUR FEEDBACK ON:</a:t>
            </a:r>
          </a:p>
        </p:txBody>
      </p:sp>
      <p:sp>
        <p:nvSpPr>
          <p:cNvPr name="TextBox 23" id="23"/>
          <p:cNvSpPr txBox="true"/>
          <p:nvPr/>
        </p:nvSpPr>
        <p:spPr>
          <a:xfrm rot="0">
            <a:off x="2036074" y="7829150"/>
            <a:ext cx="14359870" cy="638175"/>
          </a:xfrm>
          <a:prstGeom prst="rect">
            <a:avLst/>
          </a:prstGeom>
        </p:spPr>
        <p:txBody>
          <a:bodyPr anchor="t" rtlCol="false" tIns="0" lIns="0" bIns="0" rIns="0">
            <a:spAutoFit/>
          </a:bodyPr>
          <a:lstStyle/>
          <a:p>
            <a:pPr algn="l">
              <a:lnSpc>
                <a:spcPts val="2553"/>
              </a:lnSpc>
            </a:pPr>
            <a:r>
              <a:rPr lang="en-US" sz="2128">
                <a:solidFill>
                  <a:srgbClr val="331B0D"/>
                </a:solidFill>
                <a:latin typeface="Open Sauce"/>
                <a:ea typeface="Open Sauce"/>
                <a:cs typeface="Open Sauce"/>
                <a:sym typeface="Open Sauce"/>
              </a:rPr>
              <a:t>Does this use case address a meaningful operational problem and provide a strong enough foundation for a focused MVP?</a:t>
            </a:r>
          </a:p>
        </p:txBody>
      </p:sp>
      <p:sp>
        <p:nvSpPr>
          <p:cNvPr name="TextBox 24" id="24"/>
          <p:cNvSpPr txBox="true"/>
          <p:nvPr/>
        </p:nvSpPr>
        <p:spPr>
          <a:xfrm rot="0">
            <a:off x="13082264" y="9764239"/>
            <a:ext cx="4327874" cy="161925"/>
          </a:xfrm>
          <a:prstGeom prst="rect">
            <a:avLst/>
          </a:prstGeom>
        </p:spPr>
        <p:txBody>
          <a:bodyPr anchor="t" rtlCol="false" tIns="0" lIns="0" bIns="0" rIns="0">
            <a:spAutoFit/>
          </a:bodyPr>
          <a:lstStyle/>
          <a:p>
            <a:pPr algn="r">
              <a:lnSpc>
                <a:spcPts val="1297"/>
              </a:lnSpc>
            </a:pPr>
            <a:r>
              <a:rPr lang="en-US" sz="1080">
                <a:solidFill>
                  <a:srgbClr val="8C7753"/>
                </a:solidFill>
                <a:latin typeface="Open Sauce"/>
                <a:ea typeface="Open Sauce"/>
                <a:cs typeface="Open Sauce"/>
                <a:sym typeface="Open Sauce"/>
              </a:rPr>
              <a:t>Crew Change Risk Copilot  |  Round 1 Presentation  |  6</a:t>
            </a:r>
          </a:p>
        </p:txBody>
      </p:sp>
      <p:grpSp>
        <p:nvGrpSpPr>
          <p:cNvPr name="Group 25" id="25"/>
          <p:cNvGrpSpPr/>
          <p:nvPr/>
        </p:nvGrpSpPr>
        <p:grpSpPr>
          <a:xfrm rot="0">
            <a:off x="754971" y="137265"/>
            <a:ext cx="5342934" cy="737811"/>
            <a:chOff x="0" y="0"/>
            <a:chExt cx="7123913" cy="983749"/>
          </a:xfrm>
        </p:grpSpPr>
        <p:sp>
          <p:nvSpPr>
            <p:cNvPr name="Freeform 26" id="26"/>
            <p:cNvSpPr/>
            <p:nvPr/>
          </p:nvSpPr>
          <p:spPr>
            <a:xfrm flipH="false" flipV="false" rot="0">
              <a:off x="0" y="0"/>
              <a:ext cx="7123916" cy="983742"/>
            </a:xfrm>
            <a:custGeom>
              <a:avLst/>
              <a:gdLst/>
              <a:ahLst/>
              <a:cxnLst/>
              <a:rect r="r" b="b" t="t" l="l"/>
              <a:pathLst>
                <a:path h="983742" w="7123916">
                  <a:moveTo>
                    <a:pt x="0" y="0"/>
                  </a:moveTo>
                  <a:lnTo>
                    <a:pt x="7123916" y="0"/>
                  </a:lnTo>
                  <a:lnTo>
                    <a:pt x="7123916" y="983742"/>
                  </a:lnTo>
                  <a:lnTo>
                    <a:pt x="0" y="983742"/>
                  </a:lnTo>
                  <a:close/>
                </a:path>
              </a:pathLst>
            </a:custGeom>
            <a:blipFill>
              <a:blip r:embed="rId3">
                <a:alphaModFix amt="0"/>
              </a:blip>
              <a:stretch>
                <a:fillRect l="0" t="-91103" r="0" b="-91104"/>
              </a:stretch>
            </a:blipFill>
          </p:spPr>
        </p:sp>
        <p:sp>
          <p:nvSpPr>
            <p:cNvPr name="TextBox 27" id="27"/>
            <p:cNvSpPr txBox="true"/>
            <p:nvPr/>
          </p:nvSpPr>
          <p:spPr>
            <a:xfrm>
              <a:off x="0" y="0"/>
              <a:ext cx="7123913" cy="983749"/>
            </a:xfrm>
            <a:prstGeom prst="rect">
              <a:avLst/>
            </a:prstGeom>
          </p:spPr>
          <p:txBody>
            <a:bodyPr anchor="b" rtlCol="false" tIns="0" lIns="0" bIns="0" rIns="0"/>
            <a:lstStyle/>
            <a:p>
              <a:pPr algn="l">
                <a:lnSpc>
                  <a:spcPts val="2918"/>
                </a:lnSpc>
              </a:pPr>
              <a:r>
                <a:rPr lang="en-US" b="true" sz="2431">
                  <a:solidFill>
                    <a:srgbClr val="331B0D"/>
                  </a:solidFill>
                  <a:latin typeface="Open Sauce Bold"/>
                  <a:ea typeface="Open Sauce Bold"/>
                  <a:cs typeface="Open Sauce Bold"/>
                  <a:sym typeface="Open Sauce Bold"/>
                </a:rPr>
                <a:t>Crew Change Risk Copilot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grpSp>
        <p:nvGrpSpPr>
          <p:cNvPr name="Group 2" id="2"/>
          <p:cNvGrpSpPr/>
          <p:nvPr/>
        </p:nvGrpSpPr>
        <p:grpSpPr>
          <a:xfrm rot="0">
            <a:off x="-9535" y="-92192"/>
            <a:ext cx="18319461" cy="10395547"/>
            <a:chOff x="0" y="0"/>
            <a:chExt cx="24425948" cy="13860729"/>
          </a:xfrm>
        </p:grpSpPr>
        <p:sp>
          <p:nvSpPr>
            <p:cNvPr name="Freeform 3" id="3"/>
            <p:cNvSpPr/>
            <p:nvPr/>
          </p:nvSpPr>
          <p:spPr>
            <a:xfrm flipH="false" flipV="false" rot="0">
              <a:off x="0" y="0"/>
              <a:ext cx="24425911" cy="13860780"/>
            </a:xfrm>
            <a:custGeom>
              <a:avLst/>
              <a:gdLst/>
              <a:ahLst/>
              <a:cxnLst/>
              <a:rect r="r" b="b" t="t" l="l"/>
              <a:pathLst>
                <a:path h="13860780" w="24425911">
                  <a:moveTo>
                    <a:pt x="0" y="0"/>
                  </a:moveTo>
                  <a:lnTo>
                    <a:pt x="24425911" y="0"/>
                  </a:lnTo>
                  <a:lnTo>
                    <a:pt x="24425911" y="13860780"/>
                  </a:lnTo>
                  <a:lnTo>
                    <a:pt x="0" y="13860780"/>
                  </a:lnTo>
                  <a:close/>
                </a:path>
              </a:pathLst>
            </a:custGeom>
            <a:solidFill>
              <a:srgbClr val="FAF7F0"/>
            </a:solidFill>
            <a:ln w="19065" cap="sq">
              <a:solidFill>
                <a:srgbClr val="DCD6CA"/>
              </a:solidFill>
              <a:prstDash val="solid"/>
              <a:miter/>
            </a:ln>
          </p:spPr>
        </p:sp>
      </p:grpSp>
      <p:sp>
        <p:nvSpPr>
          <p:cNvPr name="AutoShape 4" id="4"/>
          <p:cNvSpPr/>
          <p:nvPr/>
        </p:nvSpPr>
        <p:spPr>
          <a:xfrm rot="-4647840">
            <a:off x="239811" y="412213"/>
            <a:ext cx="1273578" cy="0"/>
          </a:xfrm>
          <a:prstGeom prst="line">
            <a:avLst/>
          </a:prstGeom>
          <a:ln cap="rnd" w="142875">
            <a:solidFill>
              <a:srgbClr val="8C7753"/>
            </a:solidFill>
            <a:prstDash val="solid"/>
            <a:headEnd type="none" len="sm" w="sm"/>
            <a:tailEnd type="none" len="sm" w="sm"/>
          </a:ln>
        </p:spPr>
      </p:sp>
      <p:sp>
        <p:nvSpPr>
          <p:cNvPr name="AutoShape 5" id="5"/>
          <p:cNvSpPr/>
          <p:nvPr/>
        </p:nvSpPr>
        <p:spPr>
          <a:xfrm rot="-4767600">
            <a:off x="-146837" y="533476"/>
            <a:ext cx="1511227" cy="0"/>
          </a:xfrm>
          <a:prstGeom prst="line">
            <a:avLst/>
          </a:prstGeom>
          <a:ln cap="rnd" w="142875">
            <a:solidFill>
              <a:srgbClr val="8C7753"/>
            </a:solidFill>
            <a:prstDash val="solid"/>
            <a:headEnd type="none" len="sm" w="sm"/>
            <a:tailEnd type="none" len="sm" w="sm"/>
          </a:ln>
        </p:spPr>
      </p:sp>
      <p:grpSp>
        <p:nvGrpSpPr>
          <p:cNvPr name="Group 6" id="6"/>
          <p:cNvGrpSpPr/>
          <p:nvPr/>
        </p:nvGrpSpPr>
        <p:grpSpPr>
          <a:xfrm rot="0">
            <a:off x="-9535" y="-92192"/>
            <a:ext cx="18319461" cy="10395547"/>
            <a:chOff x="0" y="0"/>
            <a:chExt cx="24425948" cy="13860729"/>
          </a:xfrm>
        </p:grpSpPr>
        <p:sp>
          <p:nvSpPr>
            <p:cNvPr name="Freeform 7" id="7"/>
            <p:cNvSpPr/>
            <p:nvPr/>
          </p:nvSpPr>
          <p:spPr>
            <a:xfrm flipH="false" flipV="false" rot="0">
              <a:off x="0" y="0"/>
              <a:ext cx="24425911" cy="13860780"/>
            </a:xfrm>
            <a:custGeom>
              <a:avLst/>
              <a:gdLst/>
              <a:ahLst/>
              <a:cxnLst/>
              <a:rect r="r" b="b" t="t" l="l"/>
              <a:pathLst>
                <a:path h="13860780" w="24425911">
                  <a:moveTo>
                    <a:pt x="0" y="0"/>
                  </a:moveTo>
                  <a:lnTo>
                    <a:pt x="24425911" y="0"/>
                  </a:lnTo>
                  <a:lnTo>
                    <a:pt x="24425911" y="13860780"/>
                  </a:lnTo>
                  <a:lnTo>
                    <a:pt x="0" y="13860780"/>
                  </a:lnTo>
                  <a:close/>
                </a:path>
              </a:pathLst>
            </a:custGeom>
            <a:solidFill>
              <a:srgbClr val="FAF7F0"/>
            </a:solidFill>
            <a:ln w="19065" cap="sq">
              <a:solidFill>
                <a:srgbClr val="DCD6CA"/>
              </a:solidFill>
              <a:prstDash val="solid"/>
              <a:miter/>
            </a:ln>
          </p:spPr>
        </p:sp>
      </p:grpSp>
      <p:grpSp>
        <p:nvGrpSpPr>
          <p:cNvPr name="Group 8" id="8"/>
          <p:cNvGrpSpPr/>
          <p:nvPr/>
        </p:nvGrpSpPr>
        <p:grpSpPr>
          <a:xfrm rot="0">
            <a:off x="0" y="-83896"/>
            <a:ext cx="18301345" cy="10377716"/>
            <a:chOff x="0" y="0"/>
            <a:chExt cx="24401793" cy="13836955"/>
          </a:xfrm>
        </p:grpSpPr>
        <p:sp>
          <p:nvSpPr>
            <p:cNvPr name="Freeform 9" id="9" descr="背景"/>
            <p:cNvSpPr/>
            <p:nvPr/>
          </p:nvSpPr>
          <p:spPr>
            <a:xfrm flipH="false" flipV="false" rot="0">
              <a:off x="0" y="0"/>
              <a:ext cx="24401780" cy="13836904"/>
            </a:xfrm>
            <a:custGeom>
              <a:avLst/>
              <a:gdLst/>
              <a:ahLst/>
              <a:cxnLst/>
              <a:rect r="r" b="b" t="t" l="l"/>
              <a:pathLst>
                <a:path h="13836904" w="24401780">
                  <a:moveTo>
                    <a:pt x="0" y="0"/>
                  </a:moveTo>
                  <a:lnTo>
                    <a:pt x="24401780" y="0"/>
                  </a:lnTo>
                  <a:lnTo>
                    <a:pt x="24401780" y="13836904"/>
                  </a:lnTo>
                  <a:lnTo>
                    <a:pt x="0" y="13836904"/>
                  </a:lnTo>
                  <a:lnTo>
                    <a:pt x="0" y="0"/>
                  </a:lnTo>
                  <a:close/>
                </a:path>
              </a:pathLst>
            </a:custGeom>
            <a:blipFill>
              <a:blip r:embed="rId2"/>
              <a:stretch>
                <a:fillRect l="-404" t="0" r="-404" b="0"/>
              </a:stretch>
            </a:blipFill>
          </p:spPr>
        </p:sp>
      </p:grpSp>
      <p:grpSp>
        <p:nvGrpSpPr>
          <p:cNvPr name="Group 10" id="10"/>
          <p:cNvGrpSpPr/>
          <p:nvPr/>
        </p:nvGrpSpPr>
        <p:grpSpPr>
          <a:xfrm rot="0">
            <a:off x="0" y="-83896"/>
            <a:ext cx="18301345" cy="10377716"/>
            <a:chOff x="0" y="0"/>
            <a:chExt cx="24401793" cy="13836955"/>
          </a:xfrm>
        </p:grpSpPr>
        <p:sp>
          <p:nvSpPr>
            <p:cNvPr name="Freeform 11" id="11"/>
            <p:cNvSpPr/>
            <p:nvPr/>
          </p:nvSpPr>
          <p:spPr>
            <a:xfrm flipH="false" flipV="false" rot="0">
              <a:off x="0" y="0"/>
              <a:ext cx="24401780" cy="13836904"/>
            </a:xfrm>
            <a:custGeom>
              <a:avLst/>
              <a:gdLst/>
              <a:ahLst/>
              <a:cxnLst/>
              <a:rect r="r" b="b" t="t" l="l"/>
              <a:pathLst>
                <a:path h="13836904" w="24401780">
                  <a:moveTo>
                    <a:pt x="0" y="0"/>
                  </a:moveTo>
                  <a:lnTo>
                    <a:pt x="24401780" y="0"/>
                  </a:lnTo>
                  <a:lnTo>
                    <a:pt x="24401780" y="13836904"/>
                  </a:lnTo>
                  <a:lnTo>
                    <a:pt x="0" y="13836904"/>
                  </a:lnTo>
                  <a:lnTo>
                    <a:pt x="0" y="0"/>
                  </a:lnTo>
                  <a:close/>
                </a:path>
              </a:pathLst>
            </a:custGeom>
            <a:blipFill>
              <a:blip r:embed="rId3"/>
              <a:stretch>
                <a:fillRect l="-404" t="0" r="-404" b="0"/>
              </a:stretch>
            </a:blipFill>
          </p:spPr>
        </p:sp>
      </p:grpSp>
      <p:grpSp>
        <p:nvGrpSpPr>
          <p:cNvPr name="Group 12" id="12"/>
          <p:cNvGrpSpPr/>
          <p:nvPr/>
        </p:nvGrpSpPr>
        <p:grpSpPr>
          <a:xfrm rot="0">
            <a:off x="16869651" y="759009"/>
            <a:ext cx="278330" cy="277378"/>
            <a:chOff x="0" y="0"/>
            <a:chExt cx="371107" cy="369837"/>
          </a:xfrm>
        </p:grpSpPr>
        <p:sp>
          <p:nvSpPr>
            <p:cNvPr name="Freeform 13" id="13"/>
            <p:cNvSpPr/>
            <p:nvPr/>
          </p:nvSpPr>
          <p:spPr>
            <a:xfrm flipH="false" flipV="false" rot="0">
              <a:off x="0" y="0"/>
              <a:ext cx="371094" cy="369824"/>
            </a:xfrm>
            <a:custGeom>
              <a:avLst/>
              <a:gdLst/>
              <a:ahLst/>
              <a:cxnLst/>
              <a:rect r="r" b="b" t="t" l="l"/>
              <a:pathLst>
                <a:path h="369824" w="371094">
                  <a:moveTo>
                    <a:pt x="0" y="0"/>
                  </a:moveTo>
                  <a:lnTo>
                    <a:pt x="186182" y="0"/>
                  </a:lnTo>
                  <a:lnTo>
                    <a:pt x="371094" y="184912"/>
                  </a:lnTo>
                  <a:lnTo>
                    <a:pt x="186182" y="369824"/>
                  </a:lnTo>
                  <a:lnTo>
                    <a:pt x="0" y="369824"/>
                  </a:lnTo>
                  <a:lnTo>
                    <a:pt x="184912" y="184912"/>
                  </a:lnTo>
                  <a:close/>
                </a:path>
              </a:pathLst>
            </a:custGeom>
            <a:solidFill>
              <a:srgbClr val="8C7753"/>
            </a:solidFill>
          </p:spPr>
        </p:sp>
      </p:grpSp>
      <p:grpSp>
        <p:nvGrpSpPr>
          <p:cNvPr name="Group 14" id="14"/>
          <p:cNvGrpSpPr/>
          <p:nvPr/>
        </p:nvGrpSpPr>
        <p:grpSpPr>
          <a:xfrm rot="0">
            <a:off x="17100318" y="759009"/>
            <a:ext cx="278330" cy="277378"/>
            <a:chOff x="0" y="0"/>
            <a:chExt cx="371107" cy="369837"/>
          </a:xfrm>
        </p:grpSpPr>
        <p:sp>
          <p:nvSpPr>
            <p:cNvPr name="Freeform 15" id="15"/>
            <p:cNvSpPr/>
            <p:nvPr/>
          </p:nvSpPr>
          <p:spPr>
            <a:xfrm flipH="false" flipV="false" rot="0">
              <a:off x="0" y="0"/>
              <a:ext cx="371094" cy="369824"/>
            </a:xfrm>
            <a:custGeom>
              <a:avLst/>
              <a:gdLst/>
              <a:ahLst/>
              <a:cxnLst/>
              <a:rect r="r" b="b" t="t" l="l"/>
              <a:pathLst>
                <a:path h="369824" w="371094">
                  <a:moveTo>
                    <a:pt x="0" y="0"/>
                  </a:moveTo>
                  <a:lnTo>
                    <a:pt x="186182" y="0"/>
                  </a:lnTo>
                  <a:lnTo>
                    <a:pt x="371094" y="184912"/>
                  </a:lnTo>
                  <a:lnTo>
                    <a:pt x="186182" y="369824"/>
                  </a:lnTo>
                  <a:lnTo>
                    <a:pt x="0" y="369824"/>
                  </a:lnTo>
                  <a:lnTo>
                    <a:pt x="184912" y="184912"/>
                  </a:lnTo>
                  <a:close/>
                </a:path>
              </a:pathLst>
            </a:custGeom>
            <a:solidFill>
              <a:srgbClr val="8C7753"/>
            </a:solidFill>
          </p:spPr>
        </p:sp>
      </p:grpSp>
      <p:sp>
        <p:nvSpPr>
          <p:cNvPr name="TextBox 16" id="16"/>
          <p:cNvSpPr txBox="true"/>
          <p:nvPr/>
        </p:nvSpPr>
        <p:spPr>
          <a:xfrm rot="0">
            <a:off x="7548743" y="8570624"/>
            <a:ext cx="3203858" cy="533400"/>
          </a:xfrm>
          <a:prstGeom prst="rect">
            <a:avLst/>
          </a:prstGeom>
        </p:spPr>
        <p:txBody>
          <a:bodyPr anchor="t" rtlCol="false" tIns="0" lIns="0" bIns="0" rIns="0">
            <a:spAutoFit/>
          </a:bodyPr>
          <a:lstStyle/>
          <a:p>
            <a:pPr algn="l">
              <a:lnSpc>
                <a:spcPts val="2161"/>
              </a:lnSpc>
            </a:pPr>
            <a:r>
              <a:rPr lang="en-US" sz="1801">
                <a:solidFill>
                  <a:srgbClr val="FFFFFF"/>
                </a:solidFill>
                <a:latin typeface="Open Sauce"/>
                <a:ea typeface="Open Sauce"/>
                <a:cs typeface="Open Sauce"/>
                <a:sym typeface="Open Sauce"/>
              </a:rPr>
              <a:t>Andreas Papachistophorou</a:t>
            </a:r>
          </a:p>
          <a:p>
            <a:pPr algn="l">
              <a:lnSpc>
                <a:spcPts val="2161"/>
              </a:lnSpc>
            </a:pPr>
            <a:r>
              <a:rPr lang="en-US" sz="1801">
                <a:solidFill>
                  <a:srgbClr val="FFFFFF"/>
                </a:solidFill>
                <a:latin typeface="Open Sauce"/>
                <a:ea typeface="Open Sauce"/>
                <a:cs typeface="Open Sauce"/>
                <a:sym typeface="Open Sauce"/>
              </a:rPr>
              <a:t>andreasmp77@gmial.com</a:t>
            </a:r>
          </a:p>
        </p:txBody>
      </p:sp>
      <p:grpSp>
        <p:nvGrpSpPr>
          <p:cNvPr name="Group 17" id="17"/>
          <p:cNvGrpSpPr/>
          <p:nvPr/>
        </p:nvGrpSpPr>
        <p:grpSpPr>
          <a:xfrm rot="0">
            <a:off x="3353343" y="2546252"/>
            <a:ext cx="11594668" cy="3517290"/>
            <a:chOff x="0" y="0"/>
            <a:chExt cx="15459558" cy="4689720"/>
          </a:xfrm>
        </p:grpSpPr>
        <p:sp>
          <p:nvSpPr>
            <p:cNvPr name="Freeform 18" id="18"/>
            <p:cNvSpPr/>
            <p:nvPr/>
          </p:nvSpPr>
          <p:spPr>
            <a:xfrm flipH="false" flipV="false" rot="0">
              <a:off x="0" y="0"/>
              <a:ext cx="15459554" cy="4689723"/>
            </a:xfrm>
            <a:custGeom>
              <a:avLst/>
              <a:gdLst/>
              <a:ahLst/>
              <a:cxnLst/>
              <a:rect r="r" b="b" t="t" l="l"/>
              <a:pathLst>
                <a:path h="4689723" w="15459554">
                  <a:moveTo>
                    <a:pt x="0" y="0"/>
                  </a:moveTo>
                  <a:lnTo>
                    <a:pt x="15459554" y="0"/>
                  </a:lnTo>
                  <a:lnTo>
                    <a:pt x="15459554" y="4689723"/>
                  </a:lnTo>
                  <a:lnTo>
                    <a:pt x="0" y="4689723"/>
                  </a:lnTo>
                  <a:close/>
                </a:path>
              </a:pathLst>
            </a:custGeom>
            <a:blipFill>
              <a:blip r:embed="rId4">
                <a:alphaModFix amt="0"/>
              </a:blip>
              <a:stretch>
                <a:fillRect l="0" t="-14232" r="0" b="-14231"/>
              </a:stretch>
            </a:blipFill>
          </p:spPr>
        </p:sp>
        <p:sp>
          <p:nvSpPr>
            <p:cNvPr name="TextBox 19" id="19"/>
            <p:cNvSpPr txBox="true"/>
            <p:nvPr/>
          </p:nvSpPr>
          <p:spPr>
            <a:xfrm>
              <a:off x="0" y="9525"/>
              <a:ext cx="15459558" cy="4680195"/>
            </a:xfrm>
            <a:prstGeom prst="rect">
              <a:avLst/>
            </a:prstGeom>
          </p:spPr>
          <p:txBody>
            <a:bodyPr anchor="ctr" rtlCol="false" tIns="0" lIns="0" bIns="0" rIns="0"/>
            <a:lstStyle/>
            <a:p>
              <a:pPr algn="ctr">
                <a:lnSpc>
                  <a:spcPts val="11889"/>
                </a:lnSpc>
              </a:pPr>
              <a:r>
                <a:rPr lang="en-US" sz="9907" spc="-594">
                  <a:solidFill>
                    <a:srgbClr val="8C7753"/>
                  </a:solidFill>
                  <a:latin typeface="Open Sauce"/>
                  <a:ea typeface="Open Sauce"/>
                  <a:cs typeface="Open Sauce"/>
                  <a:sym typeface="Open Sauce"/>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DAHUEXcXboQ</dc:identifier>
  <dcterms:modified xsi:type="dcterms:W3CDTF">2011-08-01T06:04:30Z</dcterms:modified>
  <cp:revision>1</cp:revision>
  <dc:title>Crew_Change_Risk_Copilot_Round_1_Presentation.pptx</dc:title>
</cp:coreProperties>
</file>